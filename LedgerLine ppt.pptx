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8" r:id="rId7"/>
    <p:sldId id="274" r:id="rId8"/>
    <p:sldId id="273" r:id="rId9"/>
    <p:sldId id="272" r:id="rId10"/>
    <p:sldId id="271" r:id="rId11"/>
    <p:sldId id="270" r:id="rId12"/>
    <p:sldId id="269" r:id="rId13"/>
    <p:sldId id="275" r:id="rId14"/>
    <p:sldId id="276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Exploratory Project (EP)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b="1" dirty="0">
                <a:latin typeface="Aptos"/>
              </a:rPr>
              <a:t>AI-Powered Finance
Operations Control Center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Kritika Aggarwal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2310991878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 Monika Aggarwal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100971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reconciliation becomes an operations bottleneck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B45F83C1-A41C-0531-5870-7EBB48797CF6}"/>
              </a:ext>
            </a:extLst>
          </p:cNvPr>
          <p:cNvSpPr/>
          <p:nvPr/>
        </p:nvSpPr>
        <p:spPr>
          <a:xfrm>
            <a:off x="281700" y="1773936"/>
            <a:ext cx="2688336" cy="1655064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C40CC0A-861A-F0AA-A687-4C31873762E4}"/>
              </a:ext>
            </a:extLst>
          </p:cNvPr>
          <p:cNvSpPr/>
          <p:nvPr/>
        </p:nvSpPr>
        <p:spPr>
          <a:xfrm>
            <a:off x="225954" y="1772914"/>
            <a:ext cx="64008" cy="1828800"/>
          </a:xfrm>
          <a:prstGeom prst="rect">
            <a:avLst/>
          </a:prstGeom>
          <a:solidFill>
            <a:srgbClr val="22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0F7A88-9603-1B12-79B9-07D0F094D465}"/>
              </a:ext>
            </a:extLst>
          </p:cNvPr>
          <p:cNvSpPr txBox="1"/>
          <p:nvPr/>
        </p:nvSpPr>
        <p:spPr>
          <a:xfrm>
            <a:off x="457200" y="1984246"/>
            <a:ext cx="26003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A2226"/>
                </a:solidFill>
                <a:latin typeface="Aptos"/>
              </a:rPr>
              <a:t>Fragmented source systems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C60B0B-36F3-FF3A-ED5B-17C919A5FD40}"/>
              </a:ext>
            </a:extLst>
          </p:cNvPr>
          <p:cNvSpPr txBox="1"/>
          <p:nvPr/>
        </p:nvSpPr>
        <p:spPr>
          <a:xfrm>
            <a:off x="345709" y="2405932"/>
            <a:ext cx="2785716" cy="761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Bank, payment gateway, invoice and ledger data can disagree in amount, date, status or reference.</a:t>
            </a:r>
          </a:p>
        </p:txBody>
      </p:sp>
      <p:sp>
        <p:nvSpPr>
          <p:cNvPr id="54" name="Rounded Rectangle 7">
            <a:extLst>
              <a:ext uri="{FF2B5EF4-FFF2-40B4-BE49-F238E27FC236}">
                <a16:creationId xmlns:a16="http://schemas.microsoft.com/office/drawing/2014/main" id="{35C1D606-FB21-C0C9-CEE6-00EDD3D6FA6F}"/>
              </a:ext>
            </a:extLst>
          </p:cNvPr>
          <p:cNvSpPr/>
          <p:nvPr/>
        </p:nvSpPr>
        <p:spPr>
          <a:xfrm>
            <a:off x="3339203" y="1772914"/>
            <a:ext cx="2686859" cy="1654344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A902B6-ED01-BFA2-C335-E2DE7566EF17}"/>
              </a:ext>
            </a:extLst>
          </p:cNvPr>
          <p:cNvSpPr/>
          <p:nvPr/>
        </p:nvSpPr>
        <p:spPr>
          <a:xfrm>
            <a:off x="3305816" y="1772914"/>
            <a:ext cx="64008" cy="1828800"/>
          </a:xfrm>
          <a:prstGeom prst="rect">
            <a:avLst/>
          </a:prstGeom>
          <a:solidFill>
            <a:srgbClr val="BE8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20A3BC-771D-74B3-B344-301776509F97}"/>
              </a:ext>
            </a:extLst>
          </p:cNvPr>
          <p:cNvSpPr txBox="1"/>
          <p:nvPr/>
        </p:nvSpPr>
        <p:spPr>
          <a:xfrm>
            <a:off x="3663110" y="1966061"/>
            <a:ext cx="2199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exception review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1F1E3D-62FE-4C3A-6C27-25DADF0594B0}"/>
              </a:ext>
            </a:extLst>
          </p:cNvPr>
          <p:cNvSpPr txBox="1"/>
          <p:nvPr/>
        </p:nvSpPr>
        <p:spPr>
          <a:xfrm>
            <a:off x="3497711" y="2399935"/>
            <a:ext cx="2528351" cy="74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teams spend time finding evidence before deciding what needs action.</a:t>
            </a:r>
          </a:p>
        </p:txBody>
      </p:sp>
      <p:sp>
        <p:nvSpPr>
          <p:cNvPr id="62" name="Rounded Rectangle 11">
            <a:extLst>
              <a:ext uri="{FF2B5EF4-FFF2-40B4-BE49-F238E27FC236}">
                <a16:creationId xmlns:a16="http://schemas.microsoft.com/office/drawing/2014/main" id="{ED302D4F-9376-8C14-763A-4FE1883E5923}"/>
              </a:ext>
            </a:extLst>
          </p:cNvPr>
          <p:cNvSpPr/>
          <p:nvPr/>
        </p:nvSpPr>
        <p:spPr>
          <a:xfrm>
            <a:off x="6242874" y="1766455"/>
            <a:ext cx="2688336" cy="1655064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EFFDE3D-BAB9-AAA6-1A00-ADBFAAC2E515}"/>
              </a:ext>
            </a:extLst>
          </p:cNvPr>
          <p:cNvSpPr/>
          <p:nvPr/>
        </p:nvSpPr>
        <p:spPr>
          <a:xfrm>
            <a:off x="6191592" y="1756770"/>
            <a:ext cx="64008" cy="1828800"/>
          </a:xfrm>
          <a:prstGeom prst="rect">
            <a:avLst/>
          </a:prstGeom>
          <a:solidFill>
            <a:srgbClr val="BA4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4DDF61-9464-E7D1-F239-4EE5C6C2EDC0}"/>
              </a:ext>
            </a:extLst>
          </p:cNvPr>
          <p:cNvSpPr txBox="1"/>
          <p:nvPr/>
        </p:nvSpPr>
        <p:spPr>
          <a:xfrm>
            <a:off x="6709922" y="1969210"/>
            <a:ext cx="1838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 gap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98B5106-65F8-793A-05A2-F5CEB61953D4}"/>
              </a:ext>
            </a:extLst>
          </p:cNvPr>
          <p:cNvSpPr txBox="1"/>
          <p:nvPr/>
        </p:nvSpPr>
        <p:spPr>
          <a:xfrm>
            <a:off x="6368304" y="2423404"/>
            <a:ext cx="2623056" cy="758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every mismatch has the same urgency. High-attention cases can be buried in a large queue.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61292F-9EFC-43B5-B9C9-78764412E0BB}"/>
              </a:ext>
            </a:extLst>
          </p:cNvPr>
          <p:cNvSpPr txBox="1"/>
          <p:nvPr/>
        </p:nvSpPr>
        <p:spPr>
          <a:xfrm>
            <a:off x="225954" y="38953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226"/>
                </a:solidFill>
                <a:latin typeface="Aptos"/>
              </a:rPr>
              <a:t>Operational goal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80F7B9-698B-2A26-149A-EB61E5360F13}"/>
              </a:ext>
            </a:extLst>
          </p:cNvPr>
          <p:cNvSpPr txBox="1"/>
          <p:nvPr/>
        </p:nvSpPr>
        <p:spPr>
          <a:xfrm>
            <a:off x="225954" y="4298802"/>
            <a:ext cx="876540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27E77"/>
                </a:solidFill>
                <a:latin typeface="Aptos"/>
              </a:rPr>
              <a:t>Move from  “find → compare → investigate manually”  to  “reconcile → prioritize → explain → act”.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108375-1D5C-4536-8BC3-E2D03B2B88D8}"/>
              </a:ext>
            </a:extLst>
          </p:cNvPr>
          <p:cNvSpPr txBox="1"/>
          <p:nvPr/>
        </p:nvSpPr>
        <p:spPr>
          <a:xfrm>
            <a:off x="225954" y="5253029"/>
            <a:ext cx="8322363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1E3032"/>
                </a:solidFill>
                <a:latin typeface="Aptos"/>
              </a:defRPr>
            </a:pPr>
            <a:r>
              <a:rPr dirty="0"/>
              <a:t>• Reduce repetitive reconciliation effort</a:t>
            </a:r>
          </a:p>
          <a:p>
            <a:pPr>
              <a:spcAft>
                <a:spcPts val="600"/>
              </a:spcAft>
              <a:defRPr sz="1450">
                <a:solidFill>
                  <a:srgbClr val="1E3032"/>
                </a:solidFill>
                <a:latin typeface="Aptos"/>
              </a:defRPr>
            </a:pPr>
            <a:r>
              <a:rPr dirty="0"/>
              <a:t>• Make exception decisions consistent and auditable</a:t>
            </a:r>
          </a:p>
          <a:p>
            <a:pPr>
              <a:spcAft>
                <a:spcPts val="600"/>
              </a:spcAft>
              <a:defRPr sz="1450">
                <a:solidFill>
                  <a:srgbClr val="1E3032"/>
                </a:solidFill>
                <a:latin typeface="Aptos"/>
              </a:defRPr>
            </a:pPr>
            <a:r>
              <a:rPr dirty="0"/>
              <a:t>• Give investigators evidence before AI-generated explanation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66AFE1-4F77-6916-B701-0A728FAE8377}"/>
              </a:ext>
            </a:extLst>
          </p:cNvPr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F71"/>
                </a:solidFill>
                <a:latin typeface="Aptos"/>
              </a:rPr>
              <a:t>LEDGERLINE  •  Finance Operations Control Center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ADB899-C40E-3DFE-51AE-249689319058}"/>
              </a:ext>
            </a:extLst>
          </p:cNvPr>
          <p:cNvSpPr txBox="1"/>
          <p:nvPr/>
        </p:nvSpPr>
        <p:spPr>
          <a:xfrm>
            <a:off x="1956815" y="170617"/>
            <a:ext cx="3904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7718F1-96AF-08F2-9A25-91D2C959118A}"/>
              </a:ext>
            </a:extLst>
          </p:cNvPr>
          <p:cNvSpPr txBox="1"/>
          <p:nvPr/>
        </p:nvSpPr>
        <p:spPr>
          <a:xfrm>
            <a:off x="411480" y="990895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deterministic core with intelligence layered on top</a:t>
            </a:r>
          </a:p>
        </p:txBody>
      </p:sp>
      <p:sp>
        <p:nvSpPr>
          <p:cNvPr id="69" name="Rounded Rectangle 3">
            <a:extLst>
              <a:ext uri="{FF2B5EF4-FFF2-40B4-BE49-F238E27FC236}">
                <a16:creationId xmlns:a16="http://schemas.microsoft.com/office/drawing/2014/main" id="{727B8CB5-4E4D-C841-7854-182FE86F9354}"/>
              </a:ext>
            </a:extLst>
          </p:cNvPr>
          <p:cNvSpPr/>
          <p:nvPr/>
        </p:nvSpPr>
        <p:spPr>
          <a:xfrm>
            <a:off x="136724" y="1605784"/>
            <a:ext cx="16459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A78B03-23F2-B4FE-4B89-942C65951A4F}"/>
              </a:ext>
            </a:extLst>
          </p:cNvPr>
          <p:cNvSpPr/>
          <p:nvPr/>
        </p:nvSpPr>
        <p:spPr>
          <a:xfrm>
            <a:off x="62048" y="1605784"/>
            <a:ext cx="64008" cy="2971800"/>
          </a:xfrm>
          <a:prstGeom prst="rect">
            <a:avLst/>
          </a:prstGeom>
          <a:solidFill>
            <a:srgbClr val="22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D53CD2-14A8-367F-E108-A0BF9D5F53DC}"/>
              </a:ext>
            </a:extLst>
          </p:cNvPr>
          <p:cNvSpPr txBox="1"/>
          <p:nvPr/>
        </p:nvSpPr>
        <p:spPr>
          <a:xfrm>
            <a:off x="109112" y="2274245"/>
            <a:ext cx="1645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&amp; validate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689331-2FD9-F208-98B6-EA37475979A5}"/>
              </a:ext>
            </a:extLst>
          </p:cNvPr>
          <p:cNvSpPr txBox="1"/>
          <p:nvPr/>
        </p:nvSpPr>
        <p:spPr>
          <a:xfrm>
            <a:off x="299357" y="2874486"/>
            <a:ext cx="16459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 synthetic bank, gateway, invoice and ledger data.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9B8C8E-9173-80F5-F775-18E0FED4A618}"/>
              </a:ext>
            </a:extLst>
          </p:cNvPr>
          <p:cNvSpPr txBox="1"/>
          <p:nvPr/>
        </p:nvSpPr>
        <p:spPr>
          <a:xfrm>
            <a:off x="800098" y="18422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27E77"/>
                </a:solidFill>
                <a:latin typeface="Aptos"/>
              </a:rPr>
              <a:t>01</a:t>
            </a:r>
          </a:p>
        </p:txBody>
      </p:sp>
      <p:sp>
        <p:nvSpPr>
          <p:cNvPr id="79" name="Rounded Rectangle 8">
            <a:extLst>
              <a:ext uri="{FF2B5EF4-FFF2-40B4-BE49-F238E27FC236}">
                <a16:creationId xmlns:a16="http://schemas.microsoft.com/office/drawing/2014/main" id="{94A38B33-F938-D76D-DE7F-C6EC6B36EA74}"/>
              </a:ext>
            </a:extLst>
          </p:cNvPr>
          <p:cNvSpPr/>
          <p:nvPr/>
        </p:nvSpPr>
        <p:spPr>
          <a:xfrm>
            <a:off x="1952243" y="1605784"/>
            <a:ext cx="16459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253EE42-4C9D-0B27-DF7D-86B5BB3D9D17}"/>
              </a:ext>
            </a:extLst>
          </p:cNvPr>
          <p:cNvSpPr/>
          <p:nvPr/>
        </p:nvSpPr>
        <p:spPr>
          <a:xfrm>
            <a:off x="1930447" y="1591049"/>
            <a:ext cx="64008" cy="2971800"/>
          </a:xfrm>
          <a:prstGeom prst="rect">
            <a:avLst/>
          </a:prstGeom>
          <a:solidFill>
            <a:srgbClr val="22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E9645D-EDD9-3248-7452-437158C4677F}"/>
              </a:ext>
            </a:extLst>
          </p:cNvPr>
          <p:cNvSpPr txBox="1"/>
          <p:nvPr/>
        </p:nvSpPr>
        <p:spPr>
          <a:xfrm>
            <a:off x="2251345" y="2300825"/>
            <a:ext cx="1645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ABB7D8D-A64E-C8DB-32A1-AA1DB2BA9A03}"/>
              </a:ext>
            </a:extLst>
          </p:cNvPr>
          <p:cNvSpPr txBox="1"/>
          <p:nvPr/>
        </p:nvSpPr>
        <p:spPr>
          <a:xfrm>
            <a:off x="2053442" y="2946491"/>
            <a:ext cx="16459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dates, amounts, references and statuses.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76A4EB6-E589-215C-F627-9800726EF70A}"/>
              </a:ext>
            </a:extLst>
          </p:cNvPr>
          <p:cNvSpPr txBox="1"/>
          <p:nvPr/>
        </p:nvSpPr>
        <p:spPr>
          <a:xfrm>
            <a:off x="2636289" y="18544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27E77"/>
                </a:solidFill>
                <a:latin typeface="Aptos"/>
              </a:rPr>
              <a:t>02</a:t>
            </a:r>
          </a:p>
        </p:txBody>
      </p:sp>
      <p:sp>
        <p:nvSpPr>
          <p:cNvPr id="89" name="Rounded Rectangle 13">
            <a:extLst>
              <a:ext uri="{FF2B5EF4-FFF2-40B4-BE49-F238E27FC236}">
                <a16:creationId xmlns:a16="http://schemas.microsoft.com/office/drawing/2014/main" id="{74708310-8E98-4B76-A1C8-ED663BA089AF}"/>
              </a:ext>
            </a:extLst>
          </p:cNvPr>
          <p:cNvSpPr/>
          <p:nvPr/>
        </p:nvSpPr>
        <p:spPr>
          <a:xfrm>
            <a:off x="3847011" y="1605784"/>
            <a:ext cx="16459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7565D70-044E-32B5-A355-A1E806EFBF10}"/>
              </a:ext>
            </a:extLst>
          </p:cNvPr>
          <p:cNvSpPr/>
          <p:nvPr/>
        </p:nvSpPr>
        <p:spPr>
          <a:xfrm>
            <a:off x="3785617" y="1594411"/>
            <a:ext cx="64008" cy="2971800"/>
          </a:xfrm>
          <a:prstGeom prst="rect">
            <a:avLst/>
          </a:prstGeom>
          <a:solidFill>
            <a:srgbClr val="22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6994F97-F7D8-63B5-2B7B-DB1978EE55DA}"/>
              </a:ext>
            </a:extLst>
          </p:cNvPr>
          <p:cNvSpPr txBox="1"/>
          <p:nvPr/>
        </p:nvSpPr>
        <p:spPr>
          <a:xfrm>
            <a:off x="3858416" y="2274245"/>
            <a:ext cx="1645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Reconcile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21EEA34-D889-A95A-564F-2F8DD74DBDDF}"/>
              </a:ext>
            </a:extLst>
          </p:cNvPr>
          <p:cNvSpPr txBox="1"/>
          <p:nvPr/>
        </p:nvSpPr>
        <p:spPr>
          <a:xfrm>
            <a:off x="3946070" y="2873168"/>
            <a:ext cx="164591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Deterministically establish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 validate amount/date/status/ledger.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B415CE7-F46E-42FC-A487-D68CA982AB29}"/>
              </a:ext>
            </a:extLst>
          </p:cNvPr>
          <p:cNvSpPr txBox="1"/>
          <p:nvPr/>
        </p:nvSpPr>
        <p:spPr>
          <a:xfrm>
            <a:off x="4479716" y="186396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27E77"/>
                </a:solidFill>
                <a:latin typeface="Aptos"/>
              </a:rPr>
              <a:t>03</a:t>
            </a:r>
          </a:p>
        </p:txBody>
      </p:sp>
      <p:sp>
        <p:nvSpPr>
          <p:cNvPr id="99" name="Rounded Rectangle 18">
            <a:extLst>
              <a:ext uri="{FF2B5EF4-FFF2-40B4-BE49-F238E27FC236}">
                <a16:creationId xmlns:a16="http://schemas.microsoft.com/office/drawing/2014/main" id="{8DAD72AC-C37D-3BCE-ED69-B6ABAB2AADF4}"/>
              </a:ext>
            </a:extLst>
          </p:cNvPr>
          <p:cNvSpPr/>
          <p:nvPr/>
        </p:nvSpPr>
        <p:spPr>
          <a:xfrm>
            <a:off x="5691520" y="1576420"/>
            <a:ext cx="16459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E54D66D-91D2-6003-B5BC-61456E6189E3}"/>
              </a:ext>
            </a:extLst>
          </p:cNvPr>
          <p:cNvSpPr/>
          <p:nvPr/>
        </p:nvSpPr>
        <p:spPr>
          <a:xfrm>
            <a:off x="5613518" y="1594411"/>
            <a:ext cx="64008" cy="2971800"/>
          </a:xfrm>
          <a:prstGeom prst="rect">
            <a:avLst/>
          </a:prstGeom>
          <a:solidFill>
            <a:srgbClr val="22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DD9F394-CCC6-53F1-4CBF-323331A6AF32}"/>
              </a:ext>
            </a:extLst>
          </p:cNvPr>
          <p:cNvSpPr txBox="1"/>
          <p:nvPr/>
        </p:nvSpPr>
        <p:spPr>
          <a:xfrm>
            <a:off x="5710660" y="2310293"/>
            <a:ext cx="1645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5D1EF11-0479-69DB-2FAD-F0E9E2E10E97}"/>
              </a:ext>
            </a:extLst>
          </p:cNvPr>
          <p:cNvSpPr txBox="1"/>
          <p:nvPr/>
        </p:nvSpPr>
        <p:spPr>
          <a:xfrm>
            <a:off x="5816310" y="2888747"/>
            <a:ext cx="16459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risk signal ranks cases for operational attention.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51AF7A0-5DB6-B2D3-3C0A-C80C2394FD56}"/>
              </a:ext>
            </a:extLst>
          </p:cNvPr>
          <p:cNvSpPr txBox="1"/>
          <p:nvPr/>
        </p:nvSpPr>
        <p:spPr>
          <a:xfrm>
            <a:off x="6267937" y="184841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27E77"/>
                </a:solidFill>
                <a:latin typeface="Aptos"/>
              </a:rPr>
              <a:t>04</a:t>
            </a:r>
          </a:p>
        </p:txBody>
      </p:sp>
      <p:sp>
        <p:nvSpPr>
          <p:cNvPr id="111" name="Rounded Rectangle 23">
            <a:extLst>
              <a:ext uri="{FF2B5EF4-FFF2-40B4-BE49-F238E27FC236}">
                <a16:creationId xmlns:a16="http://schemas.microsoft.com/office/drawing/2014/main" id="{1F37B11D-74BF-1A85-1EFF-F9F488212902}"/>
              </a:ext>
            </a:extLst>
          </p:cNvPr>
          <p:cNvSpPr/>
          <p:nvPr/>
        </p:nvSpPr>
        <p:spPr>
          <a:xfrm>
            <a:off x="7512856" y="1591049"/>
            <a:ext cx="16459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C2FE2ED-27DE-B762-FAD1-8EA863DDC99C}"/>
              </a:ext>
            </a:extLst>
          </p:cNvPr>
          <p:cNvSpPr/>
          <p:nvPr/>
        </p:nvSpPr>
        <p:spPr>
          <a:xfrm>
            <a:off x="7464115" y="1594411"/>
            <a:ext cx="64008" cy="2971800"/>
          </a:xfrm>
          <a:prstGeom prst="rect">
            <a:avLst/>
          </a:prstGeom>
          <a:solidFill>
            <a:srgbClr val="227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740D99-0A2D-835F-5619-6E44A5D4DA57}"/>
              </a:ext>
            </a:extLst>
          </p:cNvPr>
          <p:cNvSpPr txBox="1"/>
          <p:nvPr/>
        </p:nvSpPr>
        <p:spPr>
          <a:xfrm>
            <a:off x="7479381" y="2320918"/>
            <a:ext cx="1645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85629AF-0425-0FE4-680A-0D29F5845562}"/>
              </a:ext>
            </a:extLst>
          </p:cNvPr>
          <p:cNvSpPr txBox="1"/>
          <p:nvPr/>
        </p:nvSpPr>
        <p:spPr>
          <a:xfrm>
            <a:off x="7563484" y="2872496"/>
            <a:ext cx="16459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explains the case using only approved evidence.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D0BCF8F-D8D2-12B0-94EB-8D02929CD804}"/>
              </a:ext>
            </a:extLst>
          </p:cNvPr>
          <p:cNvSpPr txBox="1"/>
          <p:nvPr/>
        </p:nvSpPr>
        <p:spPr>
          <a:xfrm>
            <a:off x="8113294" y="18422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27E77"/>
                </a:solidFill>
                <a:latin typeface="Aptos"/>
              </a:rPr>
              <a:t>05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707B0D5-890E-5F95-1429-C5BD61099086}"/>
              </a:ext>
            </a:extLst>
          </p:cNvPr>
          <p:cNvSpPr txBox="1"/>
          <p:nvPr/>
        </p:nvSpPr>
        <p:spPr>
          <a:xfrm>
            <a:off x="299357" y="480512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principle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BDE4261-6D60-DB38-1B9C-CE8440460E9F}"/>
              </a:ext>
            </a:extLst>
          </p:cNvPr>
          <p:cNvSpPr txBox="1"/>
          <p:nvPr/>
        </p:nvSpPr>
        <p:spPr>
          <a:xfrm>
            <a:off x="262999" y="5455573"/>
            <a:ext cx="8737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reconciliation remains the source of truth. ML prioritizes; Gemini investigates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neither can override the financial decision.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F1F57D2-F4D7-FB46-7E70-D182B11E6BA0}"/>
              </a:ext>
            </a:extLst>
          </p:cNvPr>
          <p:cNvSpPr txBox="1"/>
          <p:nvPr/>
        </p:nvSpPr>
        <p:spPr>
          <a:xfrm>
            <a:off x="594360" y="6510528"/>
            <a:ext cx="8686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F71"/>
                </a:solidFill>
                <a:latin typeface="Aptos"/>
              </a:rPr>
              <a:t>LEDGERLINE  •  Finance Operations Control Center</a:t>
            </a: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0A7C-4E0E-E678-AEE9-BB329B89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3A26525-9309-657C-7806-DA0CF8518F32}"/>
              </a:ext>
            </a:extLst>
          </p:cNvPr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3893E87-7C2B-026A-BD63-EC910DD2AAD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3E2ED-CF27-DD8C-B9F5-51265D78E1A3}"/>
              </a:ext>
            </a:extLst>
          </p:cNvPr>
          <p:cNvSpPr txBox="1"/>
          <p:nvPr/>
        </p:nvSpPr>
        <p:spPr>
          <a:xfrm>
            <a:off x="423672" y="260265"/>
            <a:ext cx="718413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11657-0B5B-EFCB-27D5-6E03A1C4A538}"/>
              </a:ext>
            </a:extLst>
          </p:cNvPr>
          <p:cNvSpPr txBox="1"/>
          <p:nvPr/>
        </p:nvSpPr>
        <p:spPr>
          <a:xfrm>
            <a:off x="256032" y="9555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Production-style separation between data, intelligence and presentation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FC5B2787-9B5A-2493-2A3A-143D2E7B05F3}"/>
              </a:ext>
            </a:extLst>
          </p:cNvPr>
          <p:cNvSpPr/>
          <p:nvPr/>
        </p:nvSpPr>
        <p:spPr>
          <a:xfrm>
            <a:off x="225552" y="1575488"/>
            <a:ext cx="8460888" cy="663334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B07C10-F183-3D90-AD1E-A481718725AA}"/>
              </a:ext>
            </a:extLst>
          </p:cNvPr>
          <p:cNvSpPr txBox="1"/>
          <p:nvPr/>
        </p:nvSpPr>
        <p:spPr>
          <a:xfrm>
            <a:off x="644652" y="1705657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0F8F9F-12B7-7D64-44A9-A8E7D3509C41}"/>
              </a:ext>
            </a:extLst>
          </p:cNvPr>
          <p:cNvSpPr txBox="1"/>
          <p:nvPr/>
        </p:nvSpPr>
        <p:spPr>
          <a:xfrm>
            <a:off x="2423160" y="1726691"/>
            <a:ext cx="8366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CSVs → validation → normalization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6D7C0706-CC09-B019-0FA7-406D5052FF20}"/>
              </a:ext>
            </a:extLst>
          </p:cNvPr>
          <p:cNvSpPr/>
          <p:nvPr/>
        </p:nvSpPr>
        <p:spPr>
          <a:xfrm>
            <a:off x="225552" y="2365331"/>
            <a:ext cx="8460888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804C79-94B1-0D24-14E6-BB3CAA7F4436}"/>
              </a:ext>
            </a:extLst>
          </p:cNvPr>
          <p:cNvSpPr txBox="1"/>
          <p:nvPr/>
        </p:nvSpPr>
        <p:spPr>
          <a:xfrm>
            <a:off x="638556" y="2525225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6DBFEC-EE33-7C55-AB82-3FBBDFE806F3}"/>
              </a:ext>
            </a:extLst>
          </p:cNvPr>
          <p:cNvSpPr txBox="1"/>
          <p:nvPr/>
        </p:nvSpPr>
        <p:spPr>
          <a:xfrm>
            <a:off x="2423160" y="2511334"/>
            <a:ext cx="8366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reconciliation → exception classification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BCABADCA-B9D0-074B-0A73-2E4366597482}"/>
              </a:ext>
            </a:extLst>
          </p:cNvPr>
          <p:cNvSpPr/>
          <p:nvPr/>
        </p:nvSpPr>
        <p:spPr>
          <a:xfrm>
            <a:off x="225552" y="3209576"/>
            <a:ext cx="8460888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97C39A-AE0C-8834-9A18-761F19225DF3}"/>
              </a:ext>
            </a:extLst>
          </p:cNvPr>
          <p:cNvSpPr txBox="1"/>
          <p:nvPr/>
        </p:nvSpPr>
        <p:spPr>
          <a:xfrm>
            <a:off x="638556" y="3402635"/>
            <a:ext cx="19094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68FB17-69D1-C02E-F032-FE8CCC9063E8}"/>
              </a:ext>
            </a:extLst>
          </p:cNvPr>
          <p:cNvSpPr txBox="1"/>
          <p:nvPr/>
        </p:nvSpPr>
        <p:spPr>
          <a:xfrm>
            <a:off x="2423160" y="3384724"/>
            <a:ext cx="8366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risk scoring → Gemini evidence-grounded investigation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A38D7684-3A54-3232-D181-AA5531F0B70C}"/>
              </a:ext>
            </a:extLst>
          </p:cNvPr>
          <p:cNvSpPr/>
          <p:nvPr/>
        </p:nvSpPr>
        <p:spPr>
          <a:xfrm>
            <a:off x="225552" y="4081490"/>
            <a:ext cx="8460888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75968F-BBFD-7DCE-953B-61DD0E1135B5}"/>
              </a:ext>
            </a:extLst>
          </p:cNvPr>
          <p:cNvSpPr txBox="1"/>
          <p:nvPr/>
        </p:nvSpPr>
        <p:spPr>
          <a:xfrm>
            <a:off x="638556" y="4232366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618BB9-5DD6-FEA5-BFD4-1312D613A03F}"/>
              </a:ext>
            </a:extLst>
          </p:cNvPr>
          <p:cNvSpPr txBox="1"/>
          <p:nvPr/>
        </p:nvSpPr>
        <p:spPr>
          <a:xfrm>
            <a:off x="2423160" y="4221782"/>
            <a:ext cx="8366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pagination • filtering • sorting • validation</a:t>
            </a: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64326D2F-8FDF-23D4-65F9-7D9F95698E8D}"/>
              </a:ext>
            </a:extLst>
          </p:cNvPr>
          <p:cNvSpPr/>
          <p:nvPr/>
        </p:nvSpPr>
        <p:spPr>
          <a:xfrm>
            <a:off x="228240" y="4999009"/>
            <a:ext cx="845820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2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C422A6-0CBC-724A-1F99-7FA33C283D8D}"/>
              </a:ext>
            </a:extLst>
          </p:cNvPr>
          <p:cNvSpPr txBox="1"/>
          <p:nvPr/>
        </p:nvSpPr>
        <p:spPr>
          <a:xfrm>
            <a:off x="643781" y="5201726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85657B-1533-21EB-1259-D39F4CA63CB1}"/>
              </a:ext>
            </a:extLst>
          </p:cNvPr>
          <p:cNvSpPr txBox="1"/>
          <p:nvPr/>
        </p:nvSpPr>
        <p:spPr>
          <a:xfrm>
            <a:off x="2423160" y="5147325"/>
            <a:ext cx="8366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React/Vite dashboard → KPI • explorer • queue • detail drawer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4F9C2C-93CE-8477-5102-72C07E0C13CF}"/>
              </a:ext>
            </a:extLst>
          </p:cNvPr>
          <p:cNvSpPr txBox="1"/>
          <p:nvPr/>
        </p:nvSpPr>
        <p:spPr>
          <a:xfrm>
            <a:off x="-378824" y="6048743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is evaluation-only and is not exposed through the production API or frontend.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746413-12B7-6253-427C-76CA0A789FB1}"/>
              </a:ext>
            </a:extLst>
          </p:cNvPr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F71"/>
                </a:solidFill>
                <a:latin typeface="Aptos"/>
              </a:rPr>
              <a:t>LEDGERLINE  •  Finance Operations Control Center</a:t>
            </a:r>
          </a:p>
        </p:txBody>
      </p:sp>
    </p:spTree>
    <p:extLst>
      <p:ext uri="{BB962C8B-B14F-4D97-AF65-F5344CB8AC3E}">
        <p14:creationId xmlns:p14="http://schemas.microsoft.com/office/powerpoint/2010/main" val="244926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90DC6-569B-BA88-B0F1-7E07FE8C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81B34B62-53AB-9B5E-649A-C52CD615268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D32AA-E57A-B0E3-C376-20E316EB1966}"/>
              </a:ext>
            </a:extLst>
          </p:cNvPr>
          <p:cNvSpPr txBox="1"/>
          <p:nvPr/>
        </p:nvSpPr>
        <p:spPr>
          <a:xfrm>
            <a:off x="199643" y="164592"/>
            <a:ext cx="746912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Reconciliation &amp; Exception Intelligence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311E6-04CD-FA61-CA27-0ABE2A853538}"/>
              </a:ext>
            </a:extLst>
          </p:cNvPr>
          <p:cNvSpPr txBox="1"/>
          <p:nvPr/>
        </p:nvSpPr>
        <p:spPr>
          <a:xfrm>
            <a:off x="199643" y="993627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actually decides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2E0E2D8-352E-D073-79C2-B99735E89E60}"/>
              </a:ext>
            </a:extLst>
          </p:cNvPr>
          <p:cNvGrpSpPr/>
          <p:nvPr/>
        </p:nvGrpSpPr>
        <p:grpSpPr>
          <a:xfrm>
            <a:off x="213360" y="1531959"/>
            <a:ext cx="8930640" cy="3924639"/>
            <a:chOff x="640080" y="1417320"/>
            <a:chExt cx="11320272" cy="3924639"/>
          </a:xfrm>
        </p:grpSpPr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8C9E3D27-4CA2-6073-9BAE-08FB39588286}"/>
                </a:ext>
              </a:extLst>
            </p:cNvPr>
            <p:cNvSpPr/>
            <p:nvPr/>
          </p:nvSpPr>
          <p:spPr>
            <a:xfrm>
              <a:off x="640080" y="1423431"/>
              <a:ext cx="1554480" cy="122221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474A4B-16CF-BDB9-275A-42E8571E2859}"/>
                </a:ext>
              </a:extLst>
            </p:cNvPr>
            <p:cNvSpPr/>
            <p:nvPr/>
          </p:nvSpPr>
          <p:spPr>
            <a:xfrm>
              <a:off x="640080" y="1417320"/>
              <a:ext cx="64008" cy="123444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203095-16BE-7966-CAB8-0B723F65A851}"/>
                </a:ext>
              </a:extLst>
            </p:cNvPr>
            <p:cNvSpPr txBox="1"/>
            <p:nvPr/>
          </p:nvSpPr>
          <p:spPr>
            <a:xfrm>
              <a:off x="822959" y="1563624"/>
              <a:ext cx="12344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0A2226"/>
                  </a:solidFill>
                  <a:latin typeface="Aptos"/>
                </a:rPr>
                <a:t>MATCHED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3BDEBA-34B4-8A89-B9D8-3DEF2B64A60F}"/>
                </a:ext>
              </a:extLst>
            </p:cNvPr>
            <p:cNvSpPr txBox="1"/>
            <p:nvPr/>
          </p:nvSpPr>
          <p:spPr>
            <a:xfrm>
              <a:off x="949451" y="1965960"/>
              <a:ext cx="1234440" cy="576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 dirty="0">
                  <a:solidFill>
                    <a:srgbClr val="5B6F71"/>
                  </a:solidFill>
                  <a:latin typeface="Aptos"/>
                </a:rPr>
                <a:t>202</a:t>
              </a:r>
            </a:p>
          </p:txBody>
        </p:sp>
        <p:sp>
          <p:nvSpPr>
            <p:cNvPr id="15" name="Rounded Rectangle 7">
              <a:extLst>
                <a:ext uri="{FF2B5EF4-FFF2-40B4-BE49-F238E27FC236}">
                  <a16:creationId xmlns:a16="http://schemas.microsoft.com/office/drawing/2014/main" id="{1E5FE969-C84F-8EC2-7D66-8B66A7EAA147}"/>
                </a:ext>
              </a:extLst>
            </p:cNvPr>
            <p:cNvSpPr/>
            <p:nvPr/>
          </p:nvSpPr>
          <p:spPr>
            <a:xfrm>
              <a:off x="2267712" y="1417320"/>
              <a:ext cx="1554480" cy="12344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25A5BB2-BCDD-D942-ACEC-B9C97129124F}"/>
                </a:ext>
              </a:extLst>
            </p:cNvPr>
            <p:cNvSpPr/>
            <p:nvPr/>
          </p:nvSpPr>
          <p:spPr>
            <a:xfrm>
              <a:off x="2267712" y="1417320"/>
              <a:ext cx="64008" cy="1234440"/>
            </a:xfrm>
            <a:prstGeom prst="rect">
              <a:avLst/>
            </a:prstGeom>
            <a:solidFill>
              <a:srgbClr val="BE8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2321490-50F6-9C72-EF1B-FCA05D2EA048}"/>
                </a:ext>
              </a:extLst>
            </p:cNvPr>
            <p:cNvSpPr txBox="1"/>
            <p:nvPr/>
          </p:nvSpPr>
          <p:spPr>
            <a:xfrm>
              <a:off x="2450592" y="1563624"/>
              <a:ext cx="12344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0A2226"/>
                  </a:solidFill>
                  <a:latin typeface="Aptos"/>
                </a:rPr>
                <a:t>DATE_MISMATCH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97618EC-CD7D-D0FD-40B8-95C5782D60FA}"/>
                </a:ext>
              </a:extLst>
            </p:cNvPr>
            <p:cNvSpPr txBox="1"/>
            <p:nvPr/>
          </p:nvSpPr>
          <p:spPr>
            <a:xfrm>
              <a:off x="2450592" y="1965960"/>
              <a:ext cx="1234440" cy="576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>
                  <a:solidFill>
                    <a:srgbClr val="5B6F71"/>
                  </a:solidFill>
                  <a:latin typeface="Aptos"/>
                </a:rPr>
                <a:t>228</a:t>
              </a:r>
            </a:p>
          </p:txBody>
        </p:sp>
        <p:sp>
          <p:nvSpPr>
            <p:cNvPr id="23" name="Rounded Rectangle 11">
              <a:extLst>
                <a:ext uri="{FF2B5EF4-FFF2-40B4-BE49-F238E27FC236}">
                  <a16:creationId xmlns:a16="http://schemas.microsoft.com/office/drawing/2014/main" id="{CB8E05AD-E28A-2A9D-35C4-C6CA77C708E0}"/>
                </a:ext>
              </a:extLst>
            </p:cNvPr>
            <p:cNvSpPr/>
            <p:nvPr/>
          </p:nvSpPr>
          <p:spPr>
            <a:xfrm>
              <a:off x="3895344" y="1417320"/>
              <a:ext cx="1554480" cy="12344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4402BBD-6AFB-3696-897D-FEBB7CE4EB58}"/>
                </a:ext>
              </a:extLst>
            </p:cNvPr>
            <p:cNvSpPr/>
            <p:nvPr/>
          </p:nvSpPr>
          <p:spPr>
            <a:xfrm>
              <a:off x="3895344" y="1417320"/>
              <a:ext cx="64008" cy="1234440"/>
            </a:xfrm>
            <a:prstGeom prst="rect">
              <a:avLst/>
            </a:prstGeom>
            <a:solidFill>
              <a:srgbClr val="BA49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8D4C30-24F4-11FA-7246-590DB853131F}"/>
                </a:ext>
              </a:extLst>
            </p:cNvPr>
            <p:cNvSpPr txBox="1"/>
            <p:nvPr/>
          </p:nvSpPr>
          <p:spPr>
            <a:xfrm>
              <a:off x="4078224" y="1563624"/>
              <a:ext cx="12344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0A2226"/>
                  </a:solidFill>
                  <a:latin typeface="Aptos"/>
                </a:rPr>
                <a:t>DUPLICATE_PAYMENT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8415E5-69ED-4DB7-A49C-9ACFAC26E17B}"/>
                </a:ext>
              </a:extLst>
            </p:cNvPr>
            <p:cNvSpPr txBox="1"/>
            <p:nvPr/>
          </p:nvSpPr>
          <p:spPr>
            <a:xfrm>
              <a:off x="4352544" y="1918603"/>
              <a:ext cx="1234440" cy="576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>
                  <a:solidFill>
                    <a:srgbClr val="5B6F71"/>
                  </a:solidFill>
                  <a:latin typeface="Aptos"/>
                </a:rPr>
                <a:t>25</a:t>
              </a:r>
            </a:p>
          </p:txBody>
        </p:sp>
        <p:sp>
          <p:nvSpPr>
            <p:cNvPr id="31" name="Rounded Rectangle 15">
              <a:extLst>
                <a:ext uri="{FF2B5EF4-FFF2-40B4-BE49-F238E27FC236}">
                  <a16:creationId xmlns:a16="http://schemas.microsoft.com/office/drawing/2014/main" id="{C4DA67D8-C6E1-A436-34E0-7715F775CD03}"/>
                </a:ext>
              </a:extLst>
            </p:cNvPr>
            <p:cNvSpPr/>
            <p:nvPr/>
          </p:nvSpPr>
          <p:spPr>
            <a:xfrm>
              <a:off x="5522976" y="1417320"/>
              <a:ext cx="1554480" cy="12344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1A71F63-13C0-23BA-7F02-08B87618A9A6}"/>
                </a:ext>
              </a:extLst>
            </p:cNvPr>
            <p:cNvSpPr/>
            <p:nvPr/>
          </p:nvSpPr>
          <p:spPr>
            <a:xfrm>
              <a:off x="5522976" y="1417320"/>
              <a:ext cx="64008" cy="1234440"/>
            </a:xfrm>
            <a:prstGeom prst="rect">
              <a:avLst/>
            </a:prstGeom>
            <a:solidFill>
              <a:srgbClr val="BA49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057F532-EF85-02A7-7C45-442591C0545B}"/>
                </a:ext>
              </a:extLst>
            </p:cNvPr>
            <p:cNvSpPr txBox="1"/>
            <p:nvPr/>
          </p:nvSpPr>
          <p:spPr>
            <a:xfrm>
              <a:off x="5705856" y="1563624"/>
              <a:ext cx="12344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0A2226"/>
                  </a:solidFill>
                  <a:latin typeface="Aptos"/>
                </a:rPr>
                <a:t>AMOUNT_MISMATCH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2D72BE3-7AA2-D5DD-2D59-D284C9CB1714}"/>
                </a:ext>
              </a:extLst>
            </p:cNvPr>
            <p:cNvSpPr txBox="1"/>
            <p:nvPr/>
          </p:nvSpPr>
          <p:spPr>
            <a:xfrm>
              <a:off x="5705856" y="1965960"/>
              <a:ext cx="1234440" cy="576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>
                  <a:solidFill>
                    <a:srgbClr val="5B6F71"/>
                  </a:solidFill>
                  <a:latin typeface="Aptos"/>
                </a:rPr>
                <a:t>15</a:t>
              </a:r>
            </a:p>
          </p:txBody>
        </p:sp>
        <p:sp>
          <p:nvSpPr>
            <p:cNvPr id="39" name="Rounded Rectangle 19">
              <a:extLst>
                <a:ext uri="{FF2B5EF4-FFF2-40B4-BE49-F238E27FC236}">
                  <a16:creationId xmlns:a16="http://schemas.microsoft.com/office/drawing/2014/main" id="{E74163B0-1B3E-3C60-033A-D04C598E6E3B}"/>
                </a:ext>
              </a:extLst>
            </p:cNvPr>
            <p:cNvSpPr/>
            <p:nvPr/>
          </p:nvSpPr>
          <p:spPr>
            <a:xfrm>
              <a:off x="7150608" y="1417320"/>
              <a:ext cx="1554480" cy="12344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9325D7C-0B96-7091-1364-11D12FF564A3}"/>
                </a:ext>
              </a:extLst>
            </p:cNvPr>
            <p:cNvSpPr/>
            <p:nvPr/>
          </p:nvSpPr>
          <p:spPr>
            <a:xfrm>
              <a:off x="7150608" y="1417320"/>
              <a:ext cx="64008" cy="1234440"/>
            </a:xfrm>
            <a:prstGeom prst="rect">
              <a:avLst/>
            </a:prstGeom>
            <a:solidFill>
              <a:srgbClr val="BE8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9DD9D4E-2D49-F38F-403F-BE64521D9560}"/>
                </a:ext>
              </a:extLst>
            </p:cNvPr>
            <p:cNvSpPr txBox="1"/>
            <p:nvPr/>
          </p:nvSpPr>
          <p:spPr>
            <a:xfrm>
              <a:off x="7333488" y="1563624"/>
              <a:ext cx="12344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0A2226"/>
                  </a:solidFill>
                  <a:latin typeface="Aptos"/>
                </a:rPr>
                <a:t>LEDGER_EXCEPTION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16F7474-E2A5-FB6D-0A50-EC6B513ABA37}"/>
                </a:ext>
              </a:extLst>
            </p:cNvPr>
            <p:cNvSpPr txBox="1"/>
            <p:nvPr/>
          </p:nvSpPr>
          <p:spPr>
            <a:xfrm>
              <a:off x="7333488" y="1965960"/>
              <a:ext cx="1234440" cy="576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>
                  <a:solidFill>
                    <a:srgbClr val="5B6F71"/>
                  </a:solidFill>
                  <a:latin typeface="Aptos"/>
                </a:rPr>
                <a:t>15</a:t>
              </a:r>
            </a:p>
          </p:txBody>
        </p:sp>
        <p:sp>
          <p:nvSpPr>
            <p:cNvPr id="47" name="Rounded Rectangle 23">
              <a:extLst>
                <a:ext uri="{FF2B5EF4-FFF2-40B4-BE49-F238E27FC236}">
                  <a16:creationId xmlns:a16="http://schemas.microsoft.com/office/drawing/2014/main" id="{98B5B226-94A2-420D-837C-D750A6A11BBC}"/>
                </a:ext>
              </a:extLst>
            </p:cNvPr>
            <p:cNvSpPr/>
            <p:nvPr/>
          </p:nvSpPr>
          <p:spPr>
            <a:xfrm>
              <a:off x="8778240" y="1417320"/>
              <a:ext cx="1554480" cy="12344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694BBBE-E584-7CF7-AB42-D08A49121D3D}"/>
                </a:ext>
              </a:extLst>
            </p:cNvPr>
            <p:cNvSpPr/>
            <p:nvPr/>
          </p:nvSpPr>
          <p:spPr>
            <a:xfrm>
              <a:off x="8778240" y="1417320"/>
              <a:ext cx="64008" cy="1234440"/>
            </a:xfrm>
            <a:prstGeom prst="rect">
              <a:avLst/>
            </a:prstGeom>
            <a:solidFill>
              <a:srgbClr val="BA49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C9DE6C8-4B1B-2E6B-DB78-783378A534DE}"/>
                </a:ext>
              </a:extLst>
            </p:cNvPr>
            <p:cNvSpPr txBox="1"/>
            <p:nvPr/>
          </p:nvSpPr>
          <p:spPr>
            <a:xfrm>
              <a:off x="8961119" y="1563624"/>
              <a:ext cx="12344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0A2226"/>
                  </a:solidFill>
                  <a:latin typeface="Aptos"/>
                </a:rPr>
                <a:t>PAYMENT_FAILED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96FDF11-6D7A-6631-8973-45BA267D6B29}"/>
                </a:ext>
              </a:extLst>
            </p:cNvPr>
            <p:cNvSpPr txBox="1"/>
            <p:nvPr/>
          </p:nvSpPr>
          <p:spPr>
            <a:xfrm>
              <a:off x="8961119" y="1965960"/>
              <a:ext cx="1234440" cy="576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>
                  <a:solidFill>
                    <a:srgbClr val="5B6F71"/>
                  </a:solidFill>
                  <a:latin typeface="Aptos"/>
                </a:rPr>
                <a:t>10</a:t>
              </a:r>
            </a:p>
          </p:txBody>
        </p:sp>
        <p:sp>
          <p:nvSpPr>
            <p:cNvPr id="55" name="Rounded Rectangle 27">
              <a:extLst>
                <a:ext uri="{FF2B5EF4-FFF2-40B4-BE49-F238E27FC236}">
                  <a16:creationId xmlns:a16="http://schemas.microsoft.com/office/drawing/2014/main" id="{25EBB043-4B0E-B2E0-A6B9-258DED1323B1}"/>
                </a:ext>
              </a:extLst>
            </p:cNvPr>
            <p:cNvSpPr/>
            <p:nvPr/>
          </p:nvSpPr>
          <p:spPr>
            <a:xfrm>
              <a:off x="10405872" y="1417320"/>
              <a:ext cx="1554480" cy="123444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1D4B32D-1CE8-0C8A-F0BB-E72AF98FFAE3}"/>
                </a:ext>
              </a:extLst>
            </p:cNvPr>
            <p:cNvSpPr/>
            <p:nvPr/>
          </p:nvSpPr>
          <p:spPr>
            <a:xfrm>
              <a:off x="10405872" y="1417320"/>
              <a:ext cx="64008" cy="1234440"/>
            </a:xfrm>
            <a:prstGeom prst="rect">
              <a:avLst/>
            </a:prstGeom>
            <a:solidFill>
              <a:srgbClr val="BE8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B35F7D1-638E-6ABE-1678-A90AE846C9D2}"/>
                </a:ext>
              </a:extLst>
            </p:cNvPr>
            <p:cNvSpPr txBox="1"/>
            <p:nvPr/>
          </p:nvSpPr>
          <p:spPr>
            <a:xfrm>
              <a:off x="10588751" y="1563624"/>
              <a:ext cx="12344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>
                  <a:solidFill>
                    <a:srgbClr val="0A2226"/>
                  </a:solidFill>
                  <a:latin typeface="Aptos"/>
                </a:rPr>
                <a:t>PAYMENT_REFUNDED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859DDC6-13AA-1CA3-E9A2-228290064BDE}"/>
                </a:ext>
              </a:extLst>
            </p:cNvPr>
            <p:cNvSpPr txBox="1"/>
            <p:nvPr/>
          </p:nvSpPr>
          <p:spPr>
            <a:xfrm>
              <a:off x="10588751" y="1965960"/>
              <a:ext cx="1234440" cy="576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0">
                  <a:solidFill>
                    <a:srgbClr val="5B6F71"/>
                  </a:solidFill>
                  <a:latin typeface="Aptos"/>
                </a:rPr>
                <a:t>5</a:t>
              </a:r>
            </a:p>
          </p:txBody>
        </p:sp>
        <p:sp>
          <p:nvSpPr>
            <p:cNvPr id="63" name="Rounded Rectangle 31">
              <a:extLst>
                <a:ext uri="{FF2B5EF4-FFF2-40B4-BE49-F238E27FC236}">
                  <a16:creationId xmlns:a16="http://schemas.microsoft.com/office/drawing/2014/main" id="{C276B2AE-53AB-38EB-3F92-807210C651E7}"/>
                </a:ext>
              </a:extLst>
            </p:cNvPr>
            <p:cNvSpPr/>
            <p:nvPr/>
          </p:nvSpPr>
          <p:spPr>
            <a:xfrm>
              <a:off x="780287" y="2993570"/>
              <a:ext cx="5215825" cy="23317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359FD8-9089-8CB4-2631-1D56B16E263F}"/>
                </a:ext>
              </a:extLst>
            </p:cNvPr>
            <p:cNvSpPr/>
            <p:nvPr/>
          </p:nvSpPr>
          <p:spPr>
            <a:xfrm>
              <a:off x="716279" y="3005920"/>
              <a:ext cx="64008" cy="233172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E05B1B3-DEDA-6BEF-2D66-3BCF2A291F85}"/>
                </a:ext>
              </a:extLst>
            </p:cNvPr>
            <p:cNvSpPr txBox="1"/>
            <p:nvPr/>
          </p:nvSpPr>
          <p:spPr>
            <a:xfrm>
              <a:off x="1488010" y="3227507"/>
              <a:ext cx="3624073" cy="402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dirty="0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logic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701E591-EDE2-CE1C-A28E-163083E50E79}"/>
                </a:ext>
              </a:extLst>
            </p:cNvPr>
            <p:cNvSpPr txBox="1"/>
            <p:nvPr/>
          </p:nvSpPr>
          <p:spPr>
            <a:xfrm>
              <a:off x="1123025" y="3659692"/>
              <a:ext cx="4582829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Exact matching establishes candidate identity. Final status then validates amount, transaction/payment date, payment status and ledger consistency.</a:t>
              </a:r>
            </a:p>
          </p:txBody>
        </p:sp>
        <p:sp>
          <p:nvSpPr>
            <p:cNvPr id="71" name="Rounded Rectangle 35">
              <a:extLst>
                <a:ext uri="{FF2B5EF4-FFF2-40B4-BE49-F238E27FC236}">
                  <a16:creationId xmlns:a16="http://schemas.microsoft.com/office/drawing/2014/main" id="{4B079BB3-EA27-F32D-109B-8467212C3F62}"/>
                </a:ext>
              </a:extLst>
            </p:cNvPr>
            <p:cNvSpPr/>
            <p:nvPr/>
          </p:nvSpPr>
          <p:spPr>
            <a:xfrm>
              <a:off x="6544748" y="3010239"/>
              <a:ext cx="5215825" cy="23317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1FC90CE-F4A7-4B07-F22B-3FE76786460A}"/>
                </a:ext>
              </a:extLst>
            </p:cNvPr>
            <p:cNvSpPr/>
            <p:nvPr/>
          </p:nvSpPr>
          <p:spPr>
            <a:xfrm>
              <a:off x="6480741" y="2971800"/>
              <a:ext cx="64008" cy="2331720"/>
            </a:xfrm>
            <a:prstGeom prst="rect">
              <a:avLst/>
            </a:prstGeom>
            <a:solidFill>
              <a:srgbClr val="BE8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DE8914B-B6C5-3079-8A61-466BFB607DCF}"/>
                </a:ext>
              </a:extLst>
            </p:cNvPr>
            <p:cNvSpPr txBox="1"/>
            <p:nvPr/>
          </p:nvSpPr>
          <p:spPr>
            <a:xfrm>
              <a:off x="6731372" y="3203951"/>
              <a:ext cx="49651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Why this matters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C3D321C-2C3B-28A0-D95C-8781D08E481A}"/>
                </a:ext>
              </a:extLst>
            </p:cNvPr>
            <p:cNvSpPr txBox="1"/>
            <p:nvPr/>
          </p:nvSpPr>
          <p:spPr>
            <a:xfrm>
              <a:off x="7017752" y="3659692"/>
              <a:ext cx="4452564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match is not automatically a clean match. The system separates identity from financial validation so exceptions remain explicit and actionable.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385F642-4C5E-1EBF-1152-3A1CE0FDB80C}"/>
              </a:ext>
            </a:extLst>
          </p:cNvPr>
          <p:cNvSpPr txBox="1"/>
          <p:nvPr/>
        </p:nvSpPr>
        <p:spPr>
          <a:xfrm>
            <a:off x="2592231" y="5817716"/>
            <a:ext cx="4208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Benchmark: 500 synthetic records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3A17289-CF0D-0154-4AAE-582115A18CFE}"/>
              </a:ext>
            </a:extLst>
          </p:cNvPr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F71"/>
                </a:solidFill>
                <a:latin typeface="Aptos"/>
              </a:rPr>
              <a:t>LEDGERLINE  •  Finance Operations Control Center</a:t>
            </a:r>
          </a:p>
        </p:txBody>
      </p:sp>
    </p:spTree>
    <p:extLst>
      <p:ext uri="{BB962C8B-B14F-4D97-AF65-F5344CB8AC3E}">
        <p14:creationId xmlns:p14="http://schemas.microsoft.com/office/powerpoint/2010/main" val="236071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FA91-AA24-6333-139B-359D8F81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7A1C03C5-498D-B7DC-2751-264FB8D99D7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0858D-8418-CA81-5434-90B8B73A923F}"/>
              </a:ext>
            </a:extLst>
          </p:cNvPr>
          <p:cNvSpPr txBox="1"/>
          <p:nvPr/>
        </p:nvSpPr>
        <p:spPr>
          <a:xfrm>
            <a:off x="1621776" y="214570"/>
            <a:ext cx="60502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rgbClr val="0A2226"/>
                </a:solidFill>
                <a:latin typeface="Aptos"/>
              </a:rPr>
              <a:t>ML Risk / Attention Scoring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76F07E-7F30-62C9-DDE4-F778C36B0AEF}"/>
              </a:ext>
            </a:extLst>
          </p:cNvPr>
          <p:cNvSpPr txBox="1"/>
          <p:nvPr/>
        </p:nvSpPr>
        <p:spPr>
          <a:xfrm>
            <a:off x="131064" y="64373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F71"/>
                </a:solidFill>
                <a:latin typeface="Aptos"/>
              </a:rPr>
              <a:t>LEDGERLINE  •  Finance Operations Control Center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B5E507-6965-6421-F71C-D5DFBF554D73}"/>
              </a:ext>
            </a:extLst>
          </p:cNvPr>
          <p:cNvGrpSpPr/>
          <p:nvPr/>
        </p:nvGrpSpPr>
        <p:grpSpPr>
          <a:xfrm>
            <a:off x="124968" y="1038204"/>
            <a:ext cx="8887968" cy="5476896"/>
            <a:chOff x="158496" y="859536"/>
            <a:chExt cx="10945368" cy="525992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1610479-E548-D6D0-9C10-9585AF0DD919}"/>
                </a:ext>
              </a:extLst>
            </p:cNvPr>
            <p:cNvSpPr txBox="1"/>
            <p:nvPr/>
          </p:nvSpPr>
          <p:spPr>
            <a:xfrm>
              <a:off x="158496" y="859536"/>
              <a:ext cx="10698481" cy="3251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Prioritizing operational work without replacing deterministic decisions</a:t>
              </a:r>
            </a:p>
          </p:txBody>
        </p:sp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1C5FA53A-48A3-FF3A-C7F8-7E8458BBA24F}"/>
                </a:ext>
              </a:extLst>
            </p:cNvPr>
            <p:cNvSpPr/>
            <p:nvPr/>
          </p:nvSpPr>
          <p:spPr>
            <a:xfrm>
              <a:off x="176784" y="1344168"/>
              <a:ext cx="525780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D98836-2E92-F2DE-A95A-D9D990CDF3E7}"/>
                </a:ext>
              </a:extLst>
            </p:cNvPr>
            <p:cNvSpPr/>
            <p:nvPr/>
          </p:nvSpPr>
          <p:spPr>
            <a:xfrm>
              <a:off x="176784" y="1344168"/>
              <a:ext cx="64008" cy="182880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FC1E0-A65C-28BF-519F-B15E5258136C}"/>
                </a:ext>
              </a:extLst>
            </p:cNvPr>
            <p:cNvSpPr txBox="1"/>
            <p:nvPr/>
          </p:nvSpPr>
          <p:spPr>
            <a:xfrm>
              <a:off x="359663" y="1490472"/>
              <a:ext cx="4937760" cy="3842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</a:t>
              </a:r>
              <a:endParaRPr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BE811F-1032-9D8E-9A81-20F423A3D158}"/>
                </a:ext>
              </a:extLst>
            </p:cNvPr>
            <p:cNvSpPr txBox="1"/>
            <p:nvPr/>
          </p:nvSpPr>
          <p:spPr>
            <a:xfrm>
              <a:off x="359663" y="1892808"/>
              <a:ext cx="4937760" cy="798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high_attention</a:t>
              </a:r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 for material exception types and DATE_MISMATCH cases with </a:t>
              </a:r>
              <a:r>
                <a:rPr sz="16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date_difference</a:t>
              </a:r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&gt; 7 days; otherwise 0.</a:t>
              </a:r>
            </a:p>
          </p:txBody>
        </p:sp>
        <p:sp>
          <p:nvSpPr>
            <p:cNvPr id="15" name="Rounded Rectangle 7">
              <a:extLst>
                <a:ext uri="{FF2B5EF4-FFF2-40B4-BE49-F238E27FC236}">
                  <a16:creationId xmlns:a16="http://schemas.microsoft.com/office/drawing/2014/main" id="{5BF066F6-D1BE-DBC8-F853-72CD603284BE}"/>
                </a:ext>
              </a:extLst>
            </p:cNvPr>
            <p:cNvSpPr/>
            <p:nvPr/>
          </p:nvSpPr>
          <p:spPr>
            <a:xfrm>
              <a:off x="5663184" y="1344168"/>
              <a:ext cx="544068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D3BB374-DA09-6C00-C1C7-29E057EF5F08}"/>
                </a:ext>
              </a:extLst>
            </p:cNvPr>
            <p:cNvSpPr/>
            <p:nvPr/>
          </p:nvSpPr>
          <p:spPr>
            <a:xfrm>
              <a:off x="5663184" y="1344168"/>
              <a:ext cx="64008" cy="182880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A3A22F7-612E-80A4-5F85-C1A43EE472E4}"/>
                </a:ext>
              </a:extLst>
            </p:cNvPr>
            <p:cNvSpPr txBox="1"/>
            <p:nvPr/>
          </p:nvSpPr>
          <p:spPr>
            <a:xfrm>
              <a:off x="5846064" y="1490472"/>
              <a:ext cx="5120640" cy="3842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Models evaluated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DEE105-0EE1-57F8-3248-05E41C4057BF}"/>
                </a:ext>
              </a:extLst>
            </p:cNvPr>
            <p:cNvSpPr txBox="1"/>
            <p:nvPr/>
          </p:nvSpPr>
          <p:spPr>
            <a:xfrm>
              <a:off x="5846064" y="1892808"/>
              <a:ext cx="5120640" cy="798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Logistic Regression, Decision Tree and Random Forest. Selection prioritizes validation recall, then F1 and ROC-AUC.</a:t>
              </a:r>
              <a:endParaRPr sz="1600" b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ounded Rectangle 11">
              <a:extLst>
                <a:ext uri="{FF2B5EF4-FFF2-40B4-BE49-F238E27FC236}">
                  <a16:creationId xmlns:a16="http://schemas.microsoft.com/office/drawing/2014/main" id="{A14A03F6-1E38-D55A-342C-17647CBA2831}"/>
                </a:ext>
              </a:extLst>
            </p:cNvPr>
            <p:cNvSpPr/>
            <p:nvPr/>
          </p:nvSpPr>
          <p:spPr>
            <a:xfrm>
              <a:off x="176784" y="3447288"/>
              <a:ext cx="5257800" cy="1965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5B58F1-C21E-0353-642A-0185B3952B53}"/>
                </a:ext>
              </a:extLst>
            </p:cNvPr>
            <p:cNvSpPr/>
            <p:nvPr/>
          </p:nvSpPr>
          <p:spPr>
            <a:xfrm>
              <a:off x="176784" y="3447288"/>
              <a:ext cx="64008" cy="1965960"/>
            </a:xfrm>
            <a:prstGeom prst="rect">
              <a:avLst/>
            </a:prstGeom>
            <a:solidFill>
              <a:srgbClr val="BA49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86AB506-45F2-5BD4-14F0-F84DB8056B73}"/>
                </a:ext>
              </a:extLst>
            </p:cNvPr>
            <p:cNvSpPr txBox="1"/>
            <p:nvPr/>
          </p:nvSpPr>
          <p:spPr>
            <a:xfrm>
              <a:off x="359663" y="3593592"/>
              <a:ext cx="4937760" cy="3842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Leakage controls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27A3457-36A5-29BA-56CC-B486AD40006A}"/>
                </a:ext>
              </a:extLst>
            </p:cNvPr>
            <p:cNvSpPr txBox="1"/>
            <p:nvPr/>
          </p:nvSpPr>
          <p:spPr>
            <a:xfrm>
              <a:off x="359663" y="3995928"/>
              <a:ext cx="4937760" cy="798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Identifiers, final status, exception type, risk level, recommended action and ground-truth fields are excluded from model features.</a:t>
              </a:r>
            </a:p>
          </p:txBody>
        </p:sp>
        <p:sp>
          <p:nvSpPr>
            <p:cNvPr id="31" name="Rounded Rectangle 15">
              <a:extLst>
                <a:ext uri="{FF2B5EF4-FFF2-40B4-BE49-F238E27FC236}">
                  <a16:creationId xmlns:a16="http://schemas.microsoft.com/office/drawing/2014/main" id="{7308F897-1050-68A7-5E61-12B2407D3369}"/>
                </a:ext>
              </a:extLst>
            </p:cNvPr>
            <p:cNvSpPr/>
            <p:nvPr/>
          </p:nvSpPr>
          <p:spPr>
            <a:xfrm>
              <a:off x="5663184" y="3447288"/>
              <a:ext cx="5440680" cy="1965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4C7A98-2FAA-5F8E-64FF-1897E1505A3E}"/>
                </a:ext>
              </a:extLst>
            </p:cNvPr>
            <p:cNvSpPr/>
            <p:nvPr/>
          </p:nvSpPr>
          <p:spPr>
            <a:xfrm>
              <a:off x="5663184" y="3447288"/>
              <a:ext cx="64008" cy="1965960"/>
            </a:xfrm>
            <a:prstGeom prst="rect">
              <a:avLst/>
            </a:prstGeom>
            <a:solidFill>
              <a:srgbClr val="BE8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A76CDE5-5ADE-63DB-B97C-B98B0BD2FAFB}"/>
                </a:ext>
              </a:extLst>
            </p:cNvPr>
            <p:cNvSpPr txBox="1"/>
            <p:nvPr/>
          </p:nvSpPr>
          <p:spPr>
            <a:xfrm>
              <a:off x="5846064" y="3593592"/>
              <a:ext cx="5120640" cy="3842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Honest limitation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2934EDE-780A-DF84-14F5-9482E64A35B8}"/>
                </a:ext>
              </a:extLst>
            </p:cNvPr>
            <p:cNvSpPr txBox="1"/>
            <p:nvPr/>
          </p:nvSpPr>
          <p:spPr>
            <a:xfrm>
              <a:off x="5846064" y="3995928"/>
              <a:ext cx="5120640" cy="10345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current 500-row target is rule-derived. Strong validation is a pipeline sanity check — not evidence of production predictive performance.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3F03FA0-45BA-3DAE-A7A7-944284985482}"/>
                </a:ext>
              </a:extLst>
            </p:cNvPr>
            <p:cNvSpPr txBox="1"/>
            <p:nvPr/>
          </p:nvSpPr>
          <p:spPr>
            <a:xfrm>
              <a:off x="3421887" y="5587561"/>
              <a:ext cx="5508520" cy="3251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377 low-attention  •  123 high-attention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EB7DB28-E290-4D81-8D3A-70CD365440AB}"/>
                </a:ext>
              </a:extLst>
            </p:cNvPr>
            <p:cNvSpPr txBox="1"/>
            <p:nvPr/>
          </p:nvSpPr>
          <p:spPr>
            <a:xfrm>
              <a:off x="5728957" y="575013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11911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6BA8-7E1A-A39C-0F90-B3C25F56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6C9CDBB8-BF40-FF54-10C2-DA26F81CB4C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F097A-C9FC-A971-EE7E-D39437ECFE9D}"/>
              </a:ext>
            </a:extLst>
          </p:cNvPr>
          <p:cNvSpPr txBox="1"/>
          <p:nvPr/>
        </p:nvSpPr>
        <p:spPr>
          <a:xfrm>
            <a:off x="-1828800" y="100593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 Investigation Layer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52FE989-BCC2-D498-87A5-B36CB51DA1C7}"/>
              </a:ext>
            </a:extLst>
          </p:cNvPr>
          <p:cNvGrpSpPr/>
          <p:nvPr/>
        </p:nvGrpSpPr>
        <p:grpSpPr>
          <a:xfrm>
            <a:off x="152400" y="1115352"/>
            <a:ext cx="8784336" cy="5151892"/>
            <a:chOff x="640080" y="1042416"/>
            <a:chExt cx="10835640" cy="5001238"/>
          </a:xfrm>
        </p:grpSpPr>
        <p:sp>
          <p:nvSpPr>
            <p:cNvPr id="108" name="TextShape 1">
              <a:extLst>
                <a:ext uri="{FF2B5EF4-FFF2-40B4-BE49-F238E27FC236}">
                  <a16:creationId xmlns:a16="http://schemas.microsoft.com/office/drawing/2014/main" id="{BF66D540-F49B-DEFB-B05F-AD608ECDEAC6}"/>
                </a:ext>
              </a:extLst>
            </p:cNvPr>
            <p:cNvSpPr txBox="1"/>
            <p:nvPr/>
          </p:nvSpPr>
          <p:spPr>
            <a:xfrm>
              <a:off x="1297577" y="2821578"/>
              <a:ext cx="6705599" cy="1410788"/>
            </a:xfrm>
            <a:prstGeom prst="rect">
              <a:avLst/>
            </a:prstGeom>
            <a:noFill/>
            <a:ln w="9360">
              <a:noFill/>
            </a:ln>
          </p:spPr>
          <p:txBody>
            <a:bodyPr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5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D7D46B-03B9-12F4-62B3-4E8C7D47E25D}"/>
                </a:ext>
              </a:extLst>
            </p:cNvPr>
            <p:cNvSpPr txBox="1"/>
            <p:nvPr/>
          </p:nvSpPr>
          <p:spPr>
            <a:xfrm>
              <a:off x="640080" y="1042416"/>
              <a:ext cx="10698480" cy="328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Evidence-grounded assistance for investigators</a:t>
              </a:r>
            </a:p>
          </p:txBody>
        </p:sp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480A0977-E0A4-2306-8333-5B6DA0331FAC}"/>
                </a:ext>
              </a:extLst>
            </p:cNvPr>
            <p:cNvSpPr/>
            <p:nvPr/>
          </p:nvSpPr>
          <p:spPr>
            <a:xfrm>
              <a:off x="731520" y="1508760"/>
              <a:ext cx="1828800" cy="10972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C47AEDD-9321-34BF-4AAF-643FE70DC553}"/>
                </a:ext>
              </a:extLst>
            </p:cNvPr>
            <p:cNvSpPr txBox="1"/>
            <p:nvPr/>
          </p:nvSpPr>
          <p:spPr>
            <a:xfrm>
              <a:off x="868681" y="1719072"/>
              <a:ext cx="1554480" cy="567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Transaction
Evidence</a:t>
              </a:r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094A6F24-2CE3-8E16-941B-F5570E6164A6}"/>
                </a:ext>
              </a:extLst>
            </p:cNvPr>
            <p:cNvSpPr/>
            <p:nvPr/>
          </p:nvSpPr>
          <p:spPr>
            <a:xfrm>
              <a:off x="3657600" y="1508760"/>
              <a:ext cx="1828800" cy="10972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A75692-91C8-3AEF-4812-38B3B53C4032}"/>
                </a:ext>
              </a:extLst>
            </p:cNvPr>
            <p:cNvSpPr txBox="1"/>
            <p:nvPr/>
          </p:nvSpPr>
          <p:spPr>
            <a:xfrm>
              <a:off x="3794760" y="1719072"/>
              <a:ext cx="1554480" cy="567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Evidence
Filter</a:t>
              </a:r>
            </a:p>
          </p:txBody>
        </p:sp>
        <p:sp>
          <p:nvSpPr>
            <p:cNvPr id="15" name="Rounded Rectangle 7">
              <a:extLst>
                <a:ext uri="{FF2B5EF4-FFF2-40B4-BE49-F238E27FC236}">
                  <a16:creationId xmlns:a16="http://schemas.microsoft.com/office/drawing/2014/main" id="{8EF21DCB-CA36-209F-DE76-D70D9D0A9E3F}"/>
                </a:ext>
              </a:extLst>
            </p:cNvPr>
            <p:cNvSpPr/>
            <p:nvPr/>
          </p:nvSpPr>
          <p:spPr>
            <a:xfrm>
              <a:off x="6583680" y="1508760"/>
              <a:ext cx="1828800" cy="10972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81A535-402B-E47A-74B2-B94A49A113CA}"/>
                </a:ext>
              </a:extLst>
            </p:cNvPr>
            <p:cNvSpPr txBox="1"/>
            <p:nvPr/>
          </p:nvSpPr>
          <p:spPr>
            <a:xfrm>
              <a:off x="6652260" y="1719072"/>
              <a:ext cx="1691640" cy="567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Gemini
Investigation</a:t>
              </a:r>
            </a:p>
          </p:txBody>
        </p:sp>
        <p:sp>
          <p:nvSpPr>
            <p:cNvPr id="19" name="Rounded Rectangle 9">
              <a:extLst>
                <a:ext uri="{FF2B5EF4-FFF2-40B4-BE49-F238E27FC236}">
                  <a16:creationId xmlns:a16="http://schemas.microsoft.com/office/drawing/2014/main" id="{EA0AE5FA-024E-705D-66EF-E80E5A0D463C}"/>
                </a:ext>
              </a:extLst>
            </p:cNvPr>
            <p:cNvSpPr/>
            <p:nvPr/>
          </p:nvSpPr>
          <p:spPr>
            <a:xfrm>
              <a:off x="9509760" y="1508760"/>
              <a:ext cx="1828800" cy="109728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33CED5F-8876-A881-09C8-5E5E0A12B28E}"/>
                </a:ext>
              </a:extLst>
            </p:cNvPr>
            <p:cNvSpPr txBox="1"/>
            <p:nvPr/>
          </p:nvSpPr>
          <p:spPr>
            <a:xfrm>
              <a:off x="9646920" y="1719072"/>
              <a:ext cx="1554480" cy="567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1" dirty="0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Validated
Response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B7A1C1-D0EC-F33B-03D5-AD7FFA58D28A}"/>
                </a:ext>
              </a:extLst>
            </p:cNvPr>
            <p:cNvSpPr txBox="1"/>
            <p:nvPr/>
          </p:nvSpPr>
          <p:spPr>
            <a:xfrm>
              <a:off x="2606040" y="1847088"/>
              <a:ext cx="365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>
                  <a:solidFill>
                    <a:srgbClr val="227E77"/>
                  </a:solidFill>
                  <a:latin typeface="Aptos"/>
                </a:rPr>
                <a:t>→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03DB37-13ED-822F-25B5-B7F626A79FD4}"/>
                </a:ext>
              </a:extLst>
            </p:cNvPr>
            <p:cNvSpPr txBox="1"/>
            <p:nvPr/>
          </p:nvSpPr>
          <p:spPr>
            <a:xfrm>
              <a:off x="5532120" y="1847088"/>
              <a:ext cx="365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>
                  <a:solidFill>
                    <a:srgbClr val="227E77"/>
                  </a:solidFill>
                  <a:latin typeface="Aptos"/>
                </a:rPr>
                <a:t>→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8A8CBE-1251-6E20-5CAC-22CF9AC0A18D}"/>
                </a:ext>
              </a:extLst>
            </p:cNvPr>
            <p:cNvSpPr txBox="1"/>
            <p:nvPr/>
          </p:nvSpPr>
          <p:spPr>
            <a:xfrm>
              <a:off x="8458200" y="1847088"/>
              <a:ext cx="3657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>
                  <a:solidFill>
                    <a:srgbClr val="227E77"/>
                  </a:solidFill>
                  <a:latin typeface="Aptos"/>
                </a:rPr>
                <a:t>→</a:t>
              </a:r>
            </a:p>
          </p:txBody>
        </p:sp>
        <p:sp>
          <p:nvSpPr>
            <p:cNvPr id="29" name="Rounded Rectangle 14">
              <a:extLst>
                <a:ext uri="{FF2B5EF4-FFF2-40B4-BE49-F238E27FC236}">
                  <a16:creationId xmlns:a16="http://schemas.microsoft.com/office/drawing/2014/main" id="{695DE2F8-1E8C-3AEE-1FE9-A51E15E2013A}"/>
                </a:ext>
              </a:extLst>
            </p:cNvPr>
            <p:cNvSpPr/>
            <p:nvPr/>
          </p:nvSpPr>
          <p:spPr>
            <a:xfrm>
              <a:off x="731520" y="3154680"/>
              <a:ext cx="3429000" cy="1965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BCE974C-789D-2B52-0D7C-1C7B80F53904}"/>
                </a:ext>
              </a:extLst>
            </p:cNvPr>
            <p:cNvSpPr/>
            <p:nvPr/>
          </p:nvSpPr>
          <p:spPr>
            <a:xfrm>
              <a:off x="731520" y="3154680"/>
              <a:ext cx="64008" cy="196596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7FD073D-00CB-3633-EA9D-CF4E09536B02}"/>
                </a:ext>
              </a:extLst>
            </p:cNvPr>
            <p:cNvSpPr txBox="1"/>
            <p:nvPr/>
          </p:nvSpPr>
          <p:spPr>
            <a:xfrm>
              <a:off x="914400" y="3300984"/>
              <a:ext cx="3108960" cy="343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AI can do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184115-FA58-B38B-633E-36639673D703}"/>
                </a:ext>
              </a:extLst>
            </p:cNvPr>
            <p:cNvSpPr txBox="1"/>
            <p:nvPr/>
          </p:nvSpPr>
          <p:spPr>
            <a:xfrm>
              <a:off x="914400" y="3703320"/>
              <a:ext cx="3108960" cy="12847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Summarize evidence, explain likely cause, identify relevant fields and suggest an operational next step.</a:t>
              </a:r>
            </a:p>
          </p:txBody>
        </p:sp>
        <p:sp>
          <p:nvSpPr>
            <p:cNvPr id="37" name="Rounded Rectangle 18">
              <a:extLst>
                <a:ext uri="{FF2B5EF4-FFF2-40B4-BE49-F238E27FC236}">
                  <a16:creationId xmlns:a16="http://schemas.microsoft.com/office/drawing/2014/main" id="{6F328275-483F-1C90-7096-96687BEF18B8}"/>
                </a:ext>
              </a:extLst>
            </p:cNvPr>
            <p:cNvSpPr/>
            <p:nvPr/>
          </p:nvSpPr>
          <p:spPr>
            <a:xfrm>
              <a:off x="4389120" y="3154680"/>
              <a:ext cx="3429000" cy="1965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8096B98-7EC5-D4DB-62FF-CC25C2044831}"/>
                </a:ext>
              </a:extLst>
            </p:cNvPr>
            <p:cNvSpPr/>
            <p:nvPr/>
          </p:nvSpPr>
          <p:spPr>
            <a:xfrm>
              <a:off x="4389120" y="3154680"/>
              <a:ext cx="64008" cy="1965960"/>
            </a:xfrm>
            <a:prstGeom prst="rect">
              <a:avLst/>
            </a:prstGeom>
            <a:solidFill>
              <a:srgbClr val="BE87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C51252-667D-FE40-8BFD-A3152257B12F}"/>
                </a:ext>
              </a:extLst>
            </p:cNvPr>
            <p:cNvSpPr txBox="1"/>
            <p:nvPr/>
          </p:nvSpPr>
          <p:spPr>
            <a:xfrm>
              <a:off x="4572000" y="3300984"/>
              <a:ext cx="31089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A2226"/>
                  </a:solidFill>
                  <a:latin typeface="Aptos"/>
                </a:rPr>
                <a:t>Guardrails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91EDB79-0956-3D2D-3ECA-5F69A309B88E}"/>
                </a:ext>
              </a:extLst>
            </p:cNvPr>
            <p:cNvSpPr txBox="1"/>
            <p:nvPr/>
          </p:nvSpPr>
          <p:spPr>
            <a:xfrm>
              <a:off x="4572000" y="3703320"/>
              <a:ext cx="3108960" cy="1307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Structured JSON output, strict schema validation, evidence checks and deterministic fallback on failure.</a:t>
              </a:r>
            </a:p>
          </p:txBody>
        </p:sp>
        <p:sp>
          <p:nvSpPr>
            <p:cNvPr id="45" name="Rounded Rectangle 22">
              <a:extLst>
                <a:ext uri="{FF2B5EF4-FFF2-40B4-BE49-F238E27FC236}">
                  <a16:creationId xmlns:a16="http://schemas.microsoft.com/office/drawing/2014/main" id="{FEF27832-BB2A-AB56-7D45-316DA0FA33E6}"/>
                </a:ext>
              </a:extLst>
            </p:cNvPr>
            <p:cNvSpPr/>
            <p:nvPr/>
          </p:nvSpPr>
          <p:spPr>
            <a:xfrm>
              <a:off x="8046720" y="3154680"/>
              <a:ext cx="3429000" cy="196596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C1261E2-59DF-E1D2-2310-6C1AB3BC8E2A}"/>
                </a:ext>
              </a:extLst>
            </p:cNvPr>
            <p:cNvSpPr/>
            <p:nvPr/>
          </p:nvSpPr>
          <p:spPr>
            <a:xfrm>
              <a:off x="8046720" y="3154680"/>
              <a:ext cx="64008" cy="1965960"/>
            </a:xfrm>
            <a:prstGeom prst="rect">
              <a:avLst/>
            </a:prstGeom>
            <a:solidFill>
              <a:srgbClr val="BA49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293B2D4-CD5E-7ACF-2A74-32BAC4643C82}"/>
                </a:ext>
              </a:extLst>
            </p:cNvPr>
            <p:cNvSpPr txBox="1"/>
            <p:nvPr/>
          </p:nvSpPr>
          <p:spPr>
            <a:xfrm>
              <a:off x="8229600" y="3300984"/>
              <a:ext cx="3108960" cy="343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AI cannot do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91C189E-C38C-D416-51AB-EF1F5C51DB3B}"/>
                </a:ext>
              </a:extLst>
            </p:cNvPr>
            <p:cNvSpPr txBox="1"/>
            <p:nvPr/>
          </p:nvSpPr>
          <p:spPr>
            <a:xfrm>
              <a:off x="8229600" y="3703320"/>
              <a:ext cx="3108960" cy="12847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cannot override </a:t>
              </a:r>
              <a:r>
                <a:rPr sz="16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final_status</a:t>
              </a:r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or authoritative </a:t>
              </a:r>
              <a:r>
                <a:rPr sz="1600" b="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recommended_action</a:t>
              </a:r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The deterministic layer remains the source of truth.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AFC5BFF-FE52-876F-4F35-BE5A3969A588}"/>
                </a:ext>
              </a:extLst>
            </p:cNvPr>
            <p:cNvSpPr txBox="1"/>
            <p:nvPr/>
          </p:nvSpPr>
          <p:spPr>
            <a:xfrm>
              <a:off x="749808" y="5715000"/>
              <a:ext cx="10607039" cy="328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Provider: Gemini  •  Model: gemini-2.5-flash  •  Secrets stay server-side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3AAF52E-D67D-8E2B-AA03-C1CF50C061D3}"/>
              </a:ext>
            </a:extLst>
          </p:cNvPr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F71"/>
                </a:solidFill>
                <a:latin typeface="Aptos"/>
              </a:rPr>
              <a:t>LEDGERLINE  •  Finance Operations Control Center</a:t>
            </a:r>
          </a:p>
        </p:txBody>
      </p:sp>
    </p:spTree>
    <p:extLst>
      <p:ext uri="{BB962C8B-B14F-4D97-AF65-F5344CB8AC3E}">
        <p14:creationId xmlns:p14="http://schemas.microsoft.com/office/powerpoint/2010/main" val="3925895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B2E41-FDFB-A8F5-245A-2A700AC3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2059021F-3F78-BD64-E661-AE1AB719E30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BEAD6-8530-951F-5202-1F72CCF0A419}"/>
              </a:ext>
            </a:extLst>
          </p:cNvPr>
          <p:cNvSpPr txBox="1"/>
          <p:nvPr/>
        </p:nvSpPr>
        <p:spPr>
          <a:xfrm>
            <a:off x="1408176" y="206181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0A2226"/>
                </a:solidFill>
                <a:latin typeface="Aptos"/>
              </a:rPr>
              <a:t>Operations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8FA01-51F4-DD8E-B950-599F3F5D2B23}"/>
              </a:ext>
            </a:extLst>
          </p:cNvPr>
          <p:cNvSpPr txBox="1"/>
          <p:nvPr/>
        </p:nvSpPr>
        <p:spPr>
          <a:xfrm>
            <a:off x="152400" y="968090"/>
            <a:ext cx="86725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around the investigator's workflow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CCDF79F-D34A-0956-7CB7-086122E05476}"/>
              </a:ext>
            </a:extLst>
          </p:cNvPr>
          <p:cNvGrpSpPr/>
          <p:nvPr/>
        </p:nvGrpSpPr>
        <p:grpSpPr>
          <a:xfrm>
            <a:off x="152400" y="1528488"/>
            <a:ext cx="8906256" cy="4087368"/>
            <a:chOff x="152400" y="1225296"/>
            <a:chExt cx="10104120" cy="3566160"/>
          </a:xfrm>
        </p:grpSpPr>
        <p:sp>
          <p:nvSpPr>
            <p:cNvPr id="108" name="TextShape 1">
              <a:extLst>
                <a:ext uri="{FF2B5EF4-FFF2-40B4-BE49-F238E27FC236}">
                  <a16:creationId xmlns:a16="http://schemas.microsoft.com/office/drawing/2014/main" id="{39956E8D-9562-EE35-C602-73AB411ADD68}"/>
                </a:ext>
              </a:extLst>
            </p:cNvPr>
            <p:cNvSpPr txBox="1"/>
            <p:nvPr/>
          </p:nvSpPr>
          <p:spPr>
            <a:xfrm>
              <a:off x="1297577" y="2821578"/>
              <a:ext cx="6705599" cy="1410788"/>
            </a:xfrm>
            <a:prstGeom prst="rect">
              <a:avLst/>
            </a:prstGeom>
            <a:noFill/>
            <a:ln w="9360">
              <a:noFill/>
            </a:ln>
          </p:spPr>
          <p:txBody>
            <a:bodyPr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5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6D992115-D764-E6AA-CD54-03AAA45B5AEE}"/>
                </a:ext>
              </a:extLst>
            </p:cNvPr>
            <p:cNvSpPr/>
            <p:nvPr/>
          </p:nvSpPr>
          <p:spPr>
            <a:xfrm>
              <a:off x="152400" y="1225296"/>
              <a:ext cx="3154680" cy="1600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29AAE7-1F65-F78D-2EEC-7014BF0BDF60}"/>
                </a:ext>
              </a:extLst>
            </p:cNvPr>
            <p:cNvSpPr/>
            <p:nvPr/>
          </p:nvSpPr>
          <p:spPr>
            <a:xfrm>
              <a:off x="152400" y="1225296"/>
              <a:ext cx="64008" cy="160020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A94B94-FE9D-FC3D-1421-0A7D55D14E33}"/>
                </a:ext>
              </a:extLst>
            </p:cNvPr>
            <p:cNvSpPr txBox="1"/>
            <p:nvPr/>
          </p:nvSpPr>
          <p:spPr>
            <a:xfrm>
              <a:off x="335279" y="1371600"/>
              <a:ext cx="28346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KPI command center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09BCD-34DA-1487-D4DC-92559495077D}"/>
                </a:ext>
              </a:extLst>
            </p:cNvPr>
            <p:cNvSpPr txBox="1"/>
            <p:nvPr/>
          </p:nvSpPr>
          <p:spPr>
            <a:xfrm>
              <a:off x="335279" y="1773936"/>
              <a:ext cx="2834640" cy="725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Exception volume, risk distribution and operational signals at a glance.</a:t>
              </a:r>
            </a:p>
          </p:txBody>
        </p:sp>
        <p:sp>
          <p:nvSpPr>
            <p:cNvPr id="15" name="Rounded Rectangle 7">
              <a:extLst>
                <a:ext uri="{FF2B5EF4-FFF2-40B4-BE49-F238E27FC236}">
                  <a16:creationId xmlns:a16="http://schemas.microsoft.com/office/drawing/2014/main" id="{80549D99-14F6-1609-204D-62FD852979E1}"/>
                </a:ext>
              </a:extLst>
            </p:cNvPr>
            <p:cNvSpPr/>
            <p:nvPr/>
          </p:nvSpPr>
          <p:spPr>
            <a:xfrm>
              <a:off x="3627120" y="1225296"/>
              <a:ext cx="3154680" cy="1600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3336DB-BBB9-81FD-B7B6-040A3B0EC01B}"/>
                </a:ext>
              </a:extLst>
            </p:cNvPr>
            <p:cNvSpPr/>
            <p:nvPr/>
          </p:nvSpPr>
          <p:spPr>
            <a:xfrm>
              <a:off x="3627120" y="1225296"/>
              <a:ext cx="64008" cy="160020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FD7652-4E74-B45F-515E-80C4A52881B6}"/>
                </a:ext>
              </a:extLst>
            </p:cNvPr>
            <p:cNvSpPr txBox="1"/>
            <p:nvPr/>
          </p:nvSpPr>
          <p:spPr>
            <a:xfrm>
              <a:off x="3810000" y="1371600"/>
              <a:ext cx="28346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Transaction explorer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797401D-6368-1C45-8B56-F631E64582B5}"/>
                </a:ext>
              </a:extLst>
            </p:cNvPr>
            <p:cNvSpPr txBox="1"/>
            <p:nvPr/>
          </p:nvSpPr>
          <p:spPr>
            <a:xfrm>
              <a:off x="3810000" y="1770964"/>
              <a:ext cx="2834640" cy="725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Search, filter, pagination and sorting across reconciled transactions.</a:t>
              </a:r>
            </a:p>
          </p:txBody>
        </p:sp>
        <p:sp>
          <p:nvSpPr>
            <p:cNvPr id="23" name="Rounded Rectangle 11">
              <a:extLst>
                <a:ext uri="{FF2B5EF4-FFF2-40B4-BE49-F238E27FC236}">
                  <a16:creationId xmlns:a16="http://schemas.microsoft.com/office/drawing/2014/main" id="{C8307C25-A774-A3CD-B616-AE4D57707CCF}"/>
                </a:ext>
              </a:extLst>
            </p:cNvPr>
            <p:cNvSpPr/>
            <p:nvPr/>
          </p:nvSpPr>
          <p:spPr>
            <a:xfrm>
              <a:off x="7101840" y="1225296"/>
              <a:ext cx="3154680" cy="1600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800B0C5-1E48-7263-D324-2568D7D755AD}"/>
                </a:ext>
              </a:extLst>
            </p:cNvPr>
            <p:cNvSpPr/>
            <p:nvPr/>
          </p:nvSpPr>
          <p:spPr>
            <a:xfrm>
              <a:off x="7101840" y="1225296"/>
              <a:ext cx="64008" cy="160020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774F94-4503-4990-BCB0-C6BF6CED88F2}"/>
                </a:ext>
              </a:extLst>
            </p:cNvPr>
            <p:cNvSpPr txBox="1"/>
            <p:nvPr/>
          </p:nvSpPr>
          <p:spPr>
            <a:xfrm>
              <a:off x="7284720" y="1371600"/>
              <a:ext cx="28346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Exception queue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FB5549-2947-5512-B918-4A7730C56FC8}"/>
                </a:ext>
              </a:extLst>
            </p:cNvPr>
            <p:cNvSpPr txBox="1"/>
            <p:nvPr/>
          </p:nvSpPr>
          <p:spPr>
            <a:xfrm>
              <a:off x="7345805" y="1779773"/>
              <a:ext cx="2834640" cy="5102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Focus the team on cases requiring attention first.</a:t>
              </a:r>
            </a:p>
          </p:txBody>
        </p:sp>
        <p:sp>
          <p:nvSpPr>
            <p:cNvPr id="31" name="Rounded Rectangle 15">
              <a:extLst>
                <a:ext uri="{FF2B5EF4-FFF2-40B4-BE49-F238E27FC236}">
                  <a16:creationId xmlns:a16="http://schemas.microsoft.com/office/drawing/2014/main" id="{08144D8A-CDEC-1DF0-D334-8AD62E343BFF}"/>
                </a:ext>
              </a:extLst>
            </p:cNvPr>
            <p:cNvSpPr/>
            <p:nvPr/>
          </p:nvSpPr>
          <p:spPr>
            <a:xfrm>
              <a:off x="152400" y="3191256"/>
              <a:ext cx="3154680" cy="1600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34B94F3-E758-CCC0-A3A9-44410E972A73}"/>
                </a:ext>
              </a:extLst>
            </p:cNvPr>
            <p:cNvSpPr/>
            <p:nvPr/>
          </p:nvSpPr>
          <p:spPr>
            <a:xfrm>
              <a:off x="152400" y="3191256"/>
              <a:ext cx="64008" cy="160020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262174E-47D2-36F8-96A9-13E3250D2D15}"/>
                </a:ext>
              </a:extLst>
            </p:cNvPr>
            <p:cNvSpPr txBox="1"/>
            <p:nvPr/>
          </p:nvSpPr>
          <p:spPr>
            <a:xfrm>
              <a:off x="335279" y="3337560"/>
              <a:ext cx="2834640" cy="3088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Detail drawer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3EF4468-766C-1C23-9FF0-92919F3C756A}"/>
                </a:ext>
              </a:extLst>
            </p:cNvPr>
            <p:cNvSpPr txBox="1"/>
            <p:nvPr/>
          </p:nvSpPr>
          <p:spPr>
            <a:xfrm>
              <a:off x="335279" y="3739896"/>
              <a:ext cx="2834640" cy="725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 fields, decision, variance review, ML factors and recommended action.</a:t>
              </a:r>
            </a:p>
          </p:txBody>
        </p:sp>
        <p:sp>
          <p:nvSpPr>
            <p:cNvPr id="39" name="Rounded Rectangle 19">
              <a:extLst>
                <a:ext uri="{FF2B5EF4-FFF2-40B4-BE49-F238E27FC236}">
                  <a16:creationId xmlns:a16="http://schemas.microsoft.com/office/drawing/2014/main" id="{DFBEFC04-FDC5-6781-71A9-CDE5421CBE4D}"/>
                </a:ext>
              </a:extLst>
            </p:cNvPr>
            <p:cNvSpPr/>
            <p:nvPr/>
          </p:nvSpPr>
          <p:spPr>
            <a:xfrm>
              <a:off x="3627120" y="3191256"/>
              <a:ext cx="3154680" cy="1600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9D6EADA-AE8E-6B65-F3C5-07B530738AA8}"/>
                </a:ext>
              </a:extLst>
            </p:cNvPr>
            <p:cNvSpPr/>
            <p:nvPr/>
          </p:nvSpPr>
          <p:spPr>
            <a:xfrm>
              <a:off x="3627120" y="3191256"/>
              <a:ext cx="64008" cy="160020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370954B-0D81-A29E-C705-D82EB4A5B951}"/>
                </a:ext>
              </a:extLst>
            </p:cNvPr>
            <p:cNvSpPr txBox="1"/>
            <p:nvPr/>
          </p:nvSpPr>
          <p:spPr>
            <a:xfrm>
              <a:off x="3810000" y="3337560"/>
              <a:ext cx="28346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AI investigation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872E2F5-6D83-606A-8821-FB71D97D3CDF}"/>
                </a:ext>
              </a:extLst>
            </p:cNvPr>
            <p:cNvSpPr txBox="1"/>
            <p:nvPr/>
          </p:nvSpPr>
          <p:spPr>
            <a:xfrm>
              <a:off x="3810000" y="3739896"/>
              <a:ext cx="2834640" cy="725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Trigger evidence-grounded Gemini analysis from a transaction context.</a:t>
              </a:r>
            </a:p>
          </p:txBody>
        </p:sp>
        <p:sp>
          <p:nvSpPr>
            <p:cNvPr id="47" name="Rounded Rectangle 23">
              <a:extLst>
                <a:ext uri="{FF2B5EF4-FFF2-40B4-BE49-F238E27FC236}">
                  <a16:creationId xmlns:a16="http://schemas.microsoft.com/office/drawing/2014/main" id="{2C1A5402-BD69-17F9-C5F4-9B7EF240F996}"/>
                </a:ext>
              </a:extLst>
            </p:cNvPr>
            <p:cNvSpPr/>
            <p:nvPr/>
          </p:nvSpPr>
          <p:spPr>
            <a:xfrm>
              <a:off x="7101840" y="3191256"/>
              <a:ext cx="3154680" cy="1600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E155C1C-9088-43D5-6662-6A65B9B94978}"/>
                </a:ext>
              </a:extLst>
            </p:cNvPr>
            <p:cNvSpPr/>
            <p:nvPr/>
          </p:nvSpPr>
          <p:spPr>
            <a:xfrm>
              <a:off x="7101840" y="3191256"/>
              <a:ext cx="64008" cy="160020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E84E353-5F83-E61B-36B9-603E65A44127}"/>
                </a:ext>
              </a:extLst>
            </p:cNvPr>
            <p:cNvSpPr txBox="1"/>
            <p:nvPr/>
          </p:nvSpPr>
          <p:spPr>
            <a:xfrm>
              <a:off x="7284720" y="3337560"/>
              <a:ext cx="28346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Resilient UX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558F5A8-A21C-E88D-BB65-FDC2AFE53C80}"/>
                </a:ext>
              </a:extLst>
            </p:cNvPr>
            <p:cNvSpPr txBox="1"/>
            <p:nvPr/>
          </p:nvSpPr>
          <p:spPr>
            <a:xfrm>
              <a:off x="7284720" y="3739896"/>
              <a:ext cx="2834640" cy="725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Loading, empty and error states with API connectivity visibility.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151F391F-6952-2A31-7F99-F6D8D7DE6353}"/>
              </a:ext>
            </a:extLst>
          </p:cNvPr>
          <p:cNvSpPr txBox="1"/>
          <p:nvPr/>
        </p:nvSpPr>
        <p:spPr>
          <a:xfrm>
            <a:off x="-868680" y="5822316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deployment: Vercel frontend + Render backend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2341C7-6D1E-5A23-76E8-44D7DDC4226F}"/>
              </a:ext>
            </a:extLst>
          </p:cNvPr>
          <p:cNvSpPr txBox="1"/>
          <p:nvPr/>
        </p:nvSpPr>
        <p:spPr>
          <a:xfrm>
            <a:off x="106680" y="6364224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5B6F71"/>
                </a:solidFill>
                <a:latin typeface="Aptos"/>
              </a:rPr>
              <a:t>LEDGERLINE  •  Finance Operations Control Center</a:t>
            </a:r>
          </a:p>
        </p:txBody>
      </p:sp>
    </p:spTree>
    <p:extLst>
      <p:ext uri="{BB962C8B-B14F-4D97-AF65-F5344CB8AC3E}">
        <p14:creationId xmlns:p14="http://schemas.microsoft.com/office/powerpoint/2010/main" val="672299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6E69-7FD2-272C-C723-52D83CA9B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85034475-07E9-1773-7FD3-FE1712AAB9C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400" b="1" strike="noStrike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pPr algn="r">
                <a:lnSpc>
                  <a:spcPct val="100000"/>
                </a:lnSpc>
              </a:pPr>
              <a:t>9</a:t>
            </a:fld>
            <a:endParaRPr lang="en-GB" sz="1400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18394-E758-A97C-0AA5-AD29764CBD97}"/>
              </a:ext>
            </a:extLst>
          </p:cNvPr>
          <p:cNvSpPr txBox="1"/>
          <p:nvPr/>
        </p:nvSpPr>
        <p:spPr>
          <a:xfrm>
            <a:off x="1297577" y="212581"/>
            <a:ext cx="56113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0A2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&amp; Why</a:t>
            </a:r>
            <a:endParaRPr sz="3200" b="1" dirty="0">
              <a:solidFill>
                <a:srgbClr val="0A2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8D96D2D-0081-7E08-FF05-3032088F3D66}"/>
              </a:ext>
            </a:extLst>
          </p:cNvPr>
          <p:cNvGrpSpPr/>
          <p:nvPr/>
        </p:nvGrpSpPr>
        <p:grpSpPr>
          <a:xfrm>
            <a:off x="210312" y="1085088"/>
            <a:ext cx="8823960" cy="5023104"/>
            <a:chOff x="621792" y="932688"/>
            <a:chExt cx="10899648" cy="5021884"/>
          </a:xfrm>
        </p:grpSpPr>
        <p:sp>
          <p:nvSpPr>
            <p:cNvPr id="108" name="TextShape 1">
              <a:extLst>
                <a:ext uri="{FF2B5EF4-FFF2-40B4-BE49-F238E27FC236}">
                  <a16:creationId xmlns:a16="http://schemas.microsoft.com/office/drawing/2014/main" id="{081BA781-5A91-4C00-F09D-CBF5D172D6DE}"/>
                </a:ext>
              </a:extLst>
            </p:cNvPr>
            <p:cNvSpPr txBox="1"/>
            <p:nvPr/>
          </p:nvSpPr>
          <p:spPr>
            <a:xfrm>
              <a:off x="1297577" y="2821578"/>
              <a:ext cx="6705599" cy="1410788"/>
            </a:xfrm>
            <a:prstGeom prst="rect">
              <a:avLst/>
            </a:prstGeom>
            <a:noFill/>
            <a:ln w="9360">
              <a:noFill/>
            </a:ln>
          </p:spPr>
          <p:txBody>
            <a:bodyPr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endParaRPr lang="en-US" sz="1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D558885-C07B-3B94-1C18-0A090B037378}"/>
                </a:ext>
              </a:extLst>
            </p:cNvPr>
            <p:cNvSpPr txBox="1"/>
            <p:nvPr/>
          </p:nvSpPr>
          <p:spPr>
            <a:xfrm>
              <a:off x="621792" y="932688"/>
              <a:ext cx="10698479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technology has a specific job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6E8907-CC22-CECD-FCE8-F810D66DBB85}"/>
                </a:ext>
              </a:extLst>
            </p:cNvPr>
            <p:cNvSpPr txBox="1"/>
            <p:nvPr/>
          </p:nvSpPr>
          <p:spPr>
            <a:xfrm>
              <a:off x="658368" y="1353312"/>
              <a:ext cx="2057401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dirty="0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Python + Pandas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B8E2A2-F509-8281-2087-5701DCBDE238}"/>
                </a:ext>
              </a:extLst>
            </p:cNvPr>
            <p:cNvSpPr txBox="1"/>
            <p:nvPr/>
          </p:nvSpPr>
          <p:spPr>
            <a:xfrm>
              <a:off x="2788920" y="1353312"/>
              <a:ext cx="2880360" cy="5230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1E30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processing &amp; reconciliation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5AB29A-7883-89A0-8353-A430D42E098F}"/>
                </a:ext>
              </a:extLst>
            </p:cNvPr>
            <p:cNvSpPr txBox="1"/>
            <p:nvPr/>
          </p:nvSpPr>
          <p:spPr>
            <a:xfrm>
              <a:off x="5806441" y="1353312"/>
              <a:ext cx="56235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solidFill>
                    <a:srgbClr val="5B6F7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Fast iteration on structured financial data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EFE789-DE6F-4DDD-C52D-FE84789B2C24}"/>
                </a:ext>
              </a:extLst>
            </p:cNvPr>
            <p:cNvSpPr/>
            <p:nvPr/>
          </p:nvSpPr>
          <p:spPr>
            <a:xfrm>
              <a:off x="640080" y="1920240"/>
              <a:ext cx="10881360" cy="10972"/>
            </a:xfrm>
            <a:prstGeom prst="rect">
              <a:avLst/>
            </a:prstGeom>
            <a:solidFill>
              <a:srgbClr val="D2E0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966BBD-63EE-7932-35E9-0814F940214F}"/>
                </a:ext>
              </a:extLst>
            </p:cNvPr>
            <p:cNvSpPr txBox="1"/>
            <p:nvPr/>
          </p:nvSpPr>
          <p:spPr>
            <a:xfrm>
              <a:off x="658368" y="2157984"/>
              <a:ext cx="2057401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Scikit-learn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C2B7D6-98F2-D622-05C6-D50FE0040AA9}"/>
                </a:ext>
              </a:extLst>
            </p:cNvPr>
            <p:cNvSpPr txBox="1"/>
            <p:nvPr/>
          </p:nvSpPr>
          <p:spPr>
            <a:xfrm>
              <a:off x="2788920" y="2157984"/>
              <a:ext cx="28803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1E30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Risk / attention model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90EA31-ABE5-5AA7-AA64-45662CCA1DAE}"/>
                </a:ext>
              </a:extLst>
            </p:cNvPr>
            <p:cNvSpPr txBox="1"/>
            <p:nvPr/>
          </p:nvSpPr>
          <p:spPr>
            <a:xfrm>
              <a:off x="5806441" y="2157984"/>
              <a:ext cx="56235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solidFill>
                    <a:srgbClr val="5B6F7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Simple, explainable baseline models with persisted artifacts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FC9ACA9-BCFA-A254-9964-3C5BBC01E1D6}"/>
                </a:ext>
              </a:extLst>
            </p:cNvPr>
            <p:cNvSpPr/>
            <p:nvPr/>
          </p:nvSpPr>
          <p:spPr>
            <a:xfrm>
              <a:off x="640080" y="2724912"/>
              <a:ext cx="10881360" cy="10972"/>
            </a:xfrm>
            <a:prstGeom prst="rect">
              <a:avLst/>
            </a:prstGeom>
            <a:solidFill>
              <a:srgbClr val="D2E0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01773A2-346D-F625-053D-BB0E8A67358A}"/>
                </a:ext>
              </a:extLst>
            </p:cNvPr>
            <p:cNvSpPr txBox="1"/>
            <p:nvPr/>
          </p:nvSpPr>
          <p:spPr>
            <a:xfrm>
              <a:off x="658368" y="2962656"/>
              <a:ext cx="2057401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FastAPI + Pydantic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B7922B-7FEF-D904-C5F5-FC0F24B0F077}"/>
                </a:ext>
              </a:extLst>
            </p:cNvPr>
            <p:cNvSpPr txBox="1"/>
            <p:nvPr/>
          </p:nvSpPr>
          <p:spPr>
            <a:xfrm>
              <a:off x="2788920" y="2962656"/>
              <a:ext cx="28803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1E30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 API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6DE503-0B01-0859-46A5-52DD5557425E}"/>
                </a:ext>
              </a:extLst>
            </p:cNvPr>
            <p:cNvSpPr txBox="1"/>
            <p:nvPr/>
          </p:nvSpPr>
          <p:spPr>
            <a:xfrm>
              <a:off x="5806441" y="2962656"/>
              <a:ext cx="56235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solidFill>
                    <a:srgbClr val="5B6F7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Typed contracts, validation and lightweight deployment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3DD34E-2022-CB9A-EC1D-C9C56AB3D2FA}"/>
                </a:ext>
              </a:extLst>
            </p:cNvPr>
            <p:cNvSpPr/>
            <p:nvPr/>
          </p:nvSpPr>
          <p:spPr>
            <a:xfrm>
              <a:off x="640080" y="3529584"/>
              <a:ext cx="10881360" cy="10972"/>
            </a:xfrm>
            <a:prstGeom prst="rect">
              <a:avLst/>
            </a:prstGeom>
            <a:solidFill>
              <a:srgbClr val="D2E0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C71A0CA-194D-1016-2FF4-F0EE787D0433}"/>
                </a:ext>
              </a:extLst>
            </p:cNvPr>
            <p:cNvSpPr txBox="1"/>
            <p:nvPr/>
          </p:nvSpPr>
          <p:spPr>
            <a:xfrm>
              <a:off x="658368" y="3767328"/>
              <a:ext cx="2057401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React + Vite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56CEDAC-0EB4-0EBB-4A4E-152D1AC32EA4}"/>
                </a:ext>
              </a:extLst>
            </p:cNvPr>
            <p:cNvSpPr txBox="1"/>
            <p:nvPr/>
          </p:nvSpPr>
          <p:spPr>
            <a:xfrm>
              <a:off x="2788920" y="3767328"/>
              <a:ext cx="28803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1E30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Operations dashboard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EC06F61-17C6-C862-5179-15524C362A82}"/>
                </a:ext>
              </a:extLst>
            </p:cNvPr>
            <p:cNvSpPr txBox="1"/>
            <p:nvPr/>
          </p:nvSpPr>
          <p:spPr>
            <a:xfrm>
              <a:off x="5806441" y="3767328"/>
              <a:ext cx="56235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solidFill>
                    <a:srgbClr val="5B6F7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Fast interactive UI with clean separation from backend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B208707-EC60-6739-DCC0-C08A2D44E394}"/>
                </a:ext>
              </a:extLst>
            </p:cNvPr>
            <p:cNvSpPr/>
            <p:nvPr/>
          </p:nvSpPr>
          <p:spPr>
            <a:xfrm>
              <a:off x="640080" y="4334256"/>
              <a:ext cx="10881360" cy="10972"/>
            </a:xfrm>
            <a:prstGeom prst="rect">
              <a:avLst/>
            </a:prstGeom>
            <a:solidFill>
              <a:srgbClr val="D2E0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72771CA-41AA-0902-EF52-6C572E683D5B}"/>
                </a:ext>
              </a:extLst>
            </p:cNvPr>
            <p:cNvSpPr txBox="1"/>
            <p:nvPr/>
          </p:nvSpPr>
          <p:spPr>
            <a:xfrm>
              <a:off x="658368" y="4572000"/>
              <a:ext cx="2057401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Gemini API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CBD315F-37E0-6976-AEFA-290515163E70}"/>
                </a:ext>
              </a:extLst>
            </p:cNvPr>
            <p:cNvSpPr txBox="1"/>
            <p:nvPr/>
          </p:nvSpPr>
          <p:spPr>
            <a:xfrm>
              <a:off x="2788920" y="4572000"/>
              <a:ext cx="28803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1E30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Investigation assistant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624F881-F6C9-D1BE-924A-46455B9B2CAD}"/>
                </a:ext>
              </a:extLst>
            </p:cNvPr>
            <p:cNvSpPr txBox="1"/>
            <p:nvPr/>
          </p:nvSpPr>
          <p:spPr>
            <a:xfrm>
              <a:off x="5806441" y="4572000"/>
              <a:ext cx="5623560" cy="5230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solidFill>
                    <a:srgbClr val="5B6F7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Evidence-based natural-language investigation with structured output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29F7E05-4AF1-B78E-E9E0-2E9C6239EFC2}"/>
                </a:ext>
              </a:extLst>
            </p:cNvPr>
            <p:cNvSpPr/>
            <p:nvPr/>
          </p:nvSpPr>
          <p:spPr>
            <a:xfrm>
              <a:off x="640080" y="5138928"/>
              <a:ext cx="10881360" cy="10972"/>
            </a:xfrm>
            <a:prstGeom prst="rect">
              <a:avLst/>
            </a:prstGeom>
            <a:solidFill>
              <a:srgbClr val="D2E0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F52F21D-E46F-C8A7-A8CC-1664B7F0A139}"/>
                </a:ext>
              </a:extLst>
            </p:cNvPr>
            <p:cNvSpPr txBox="1"/>
            <p:nvPr/>
          </p:nvSpPr>
          <p:spPr>
            <a:xfrm>
              <a:off x="658368" y="5376672"/>
              <a:ext cx="2057401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A22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Vercel + Render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22E0EE8-A2A5-475F-D168-D08DAE288AF7}"/>
                </a:ext>
              </a:extLst>
            </p:cNvPr>
            <p:cNvSpPr txBox="1"/>
            <p:nvPr/>
          </p:nvSpPr>
          <p:spPr>
            <a:xfrm>
              <a:off x="2788920" y="5376672"/>
              <a:ext cx="28803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1E30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Deployment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D1CEA8F-953B-27E6-1000-AA4C9D4A8531}"/>
                </a:ext>
              </a:extLst>
            </p:cNvPr>
            <p:cNvSpPr txBox="1"/>
            <p:nvPr/>
          </p:nvSpPr>
          <p:spPr>
            <a:xfrm>
              <a:off x="5806441" y="5376672"/>
              <a:ext cx="5623560" cy="307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solidFill>
                    <a:srgbClr val="5B6F7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Separate frontend and backend deployment concerns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DD73CCA-4B75-5E20-3420-3CD47E47DD36}"/>
                </a:ext>
              </a:extLst>
            </p:cNvPr>
            <p:cNvSpPr/>
            <p:nvPr/>
          </p:nvSpPr>
          <p:spPr>
            <a:xfrm>
              <a:off x="640080" y="5943600"/>
              <a:ext cx="10881360" cy="10972"/>
            </a:xfrm>
            <a:prstGeom prst="rect">
              <a:avLst/>
            </a:prstGeom>
            <a:solidFill>
              <a:srgbClr val="D2E0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B5BBA76-5BE9-833A-7C55-B2B340F6570B}"/>
              </a:ext>
            </a:extLst>
          </p:cNvPr>
          <p:cNvSpPr txBox="1"/>
          <p:nvPr/>
        </p:nvSpPr>
        <p:spPr>
          <a:xfrm>
            <a:off x="210312" y="6427291"/>
            <a:ext cx="8686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5B6F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LEDGERLINE  •  Finance Operations Control Center</a:t>
            </a:r>
          </a:p>
        </p:txBody>
      </p:sp>
    </p:spTree>
    <p:extLst>
      <p:ext uri="{BB962C8B-B14F-4D97-AF65-F5344CB8AC3E}">
        <p14:creationId xmlns:p14="http://schemas.microsoft.com/office/powerpoint/2010/main" val="89548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D83D-A36D-4497-D7DA-10BF86B8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C362DA62-A8DA-6982-5B62-2EE0A2048CE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4234C-B261-C258-B69F-19F604DBBB3B}"/>
              </a:ext>
            </a:extLst>
          </p:cNvPr>
          <p:cNvSpPr txBox="1"/>
          <p:nvPr/>
        </p:nvSpPr>
        <p:spPr>
          <a:xfrm>
            <a:off x="883920" y="223689"/>
            <a:ext cx="106984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Aptos"/>
              </a:rPr>
              <a:t>Results, Validation &amp; Next Step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94246-57A6-F779-31C8-A8E9F33A2583}"/>
              </a:ext>
            </a:extLst>
          </p:cNvPr>
          <p:cNvSpPr txBox="1"/>
          <p:nvPr/>
        </p:nvSpPr>
        <p:spPr>
          <a:xfrm>
            <a:off x="164592" y="1022188"/>
            <a:ext cx="10424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working end-to-end prototype with clear production boundaries.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DF9C649-F34A-0A6C-B8CA-4EA67DEF83C3}"/>
              </a:ext>
            </a:extLst>
          </p:cNvPr>
          <p:cNvGrpSpPr/>
          <p:nvPr/>
        </p:nvGrpSpPr>
        <p:grpSpPr>
          <a:xfrm>
            <a:off x="164592" y="1522976"/>
            <a:ext cx="8814816" cy="4610667"/>
            <a:chOff x="685800" y="1600200"/>
            <a:chExt cx="10881360" cy="4644921"/>
          </a:xfrm>
        </p:grpSpPr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4377DD5D-AC4D-3248-39CE-321BC4042B9E}"/>
                </a:ext>
              </a:extLst>
            </p:cNvPr>
            <p:cNvSpPr/>
            <p:nvPr/>
          </p:nvSpPr>
          <p:spPr>
            <a:xfrm>
              <a:off x="685800" y="1600200"/>
              <a:ext cx="251460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716E05-55D6-3448-8D55-B50F9AF95820}"/>
                </a:ext>
              </a:extLst>
            </p:cNvPr>
            <p:cNvSpPr/>
            <p:nvPr/>
          </p:nvSpPr>
          <p:spPr>
            <a:xfrm>
              <a:off x="685800" y="1600200"/>
              <a:ext cx="64008" cy="141732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0C5226-656C-77E2-86F0-F43D5A71955C}"/>
                </a:ext>
              </a:extLst>
            </p:cNvPr>
            <p:cNvSpPr txBox="1"/>
            <p:nvPr/>
          </p:nvSpPr>
          <p:spPr>
            <a:xfrm>
              <a:off x="868680" y="1746504"/>
              <a:ext cx="2194560" cy="403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0E9BA3-E824-1E6B-1C0D-E9CF34AF699C}"/>
                </a:ext>
              </a:extLst>
            </p:cNvPr>
            <p:cNvSpPr txBox="1"/>
            <p:nvPr/>
          </p:nvSpPr>
          <p:spPr>
            <a:xfrm>
              <a:off x="868680" y="2094154"/>
              <a:ext cx="2194560" cy="868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5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synthetic records</a:t>
              </a:r>
            </a:p>
          </p:txBody>
        </p:sp>
        <p:sp>
          <p:nvSpPr>
            <p:cNvPr id="17" name="Rounded Rectangle 7">
              <a:extLst>
                <a:ext uri="{FF2B5EF4-FFF2-40B4-BE49-F238E27FC236}">
                  <a16:creationId xmlns:a16="http://schemas.microsoft.com/office/drawing/2014/main" id="{8796CC03-3290-B397-B69A-A384E4023DEA}"/>
                </a:ext>
              </a:extLst>
            </p:cNvPr>
            <p:cNvSpPr/>
            <p:nvPr/>
          </p:nvSpPr>
          <p:spPr>
            <a:xfrm>
              <a:off x="3474720" y="1600200"/>
              <a:ext cx="251460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7DF56A-E694-3159-08B3-D298EF58D301}"/>
                </a:ext>
              </a:extLst>
            </p:cNvPr>
            <p:cNvSpPr/>
            <p:nvPr/>
          </p:nvSpPr>
          <p:spPr>
            <a:xfrm>
              <a:off x="3474720" y="1600200"/>
              <a:ext cx="64008" cy="141732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5453CE-CA23-4847-F09E-800F0BFDE6BC}"/>
                </a:ext>
              </a:extLst>
            </p:cNvPr>
            <p:cNvSpPr txBox="1"/>
            <p:nvPr/>
          </p:nvSpPr>
          <p:spPr>
            <a:xfrm>
              <a:off x="3657600" y="1746504"/>
              <a:ext cx="2194560" cy="403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35</a:t>
              </a:r>
              <a:endParaRPr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6C3AC1-7C13-ACC6-A500-8A12E8CC6460}"/>
                </a:ext>
              </a:extLst>
            </p:cNvPr>
            <p:cNvSpPr txBox="1"/>
            <p:nvPr/>
          </p:nvSpPr>
          <p:spPr>
            <a:xfrm>
              <a:off x="3634740" y="2016544"/>
              <a:ext cx="2194560" cy="868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5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 tests passed</a:t>
              </a:r>
            </a:p>
          </p:txBody>
        </p:sp>
        <p:sp>
          <p:nvSpPr>
            <p:cNvPr id="25" name="Rounded Rectangle 11">
              <a:extLst>
                <a:ext uri="{FF2B5EF4-FFF2-40B4-BE49-F238E27FC236}">
                  <a16:creationId xmlns:a16="http://schemas.microsoft.com/office/drawing/2014/main" id="{09C692B6-1457-2915-3010-EA4483721FDE}"/>
                </a:ext>
              </a:extLst>
            </p:cNvPr>
            <p:cNvSpPr/>
            <p:nvPr/>
          </p:nvSpPr>
          <p:spPr>
            <a:xfrm>
              <a:off x="6263640" y="1600200"/>
              <a:ext cx="251460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ABF4A7B-498E-C6E6-155F-48E3064E37DA}"/>
                </a:ext>
              </a:extLst>
            </p:cNvPr>
            <p:cNvSpPr/>
            <p:nvPr/>
          </p:nvSpPr>
          <p:spPr>
            <a:xfrm>
              <a:off x="6263640" y="1600200"/>
              <a:ext cx="64008" cy="141732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9954DE-22C1-4271-D4D6-86A7F3123BA7}"/>
                </a:ext>
              </a:extLst>
            </p:cNvPr>
            <p:cNvSpPr txBox="1"/>
            <p:nvPr/>
          </p:nvSpPr>
          <p:spPr>
            <a:xfrm>
              <a:off x="6446520" y="1645376"/>
              <a:ext cx="2194560" cy="403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4DC6BA2-0693-B347-77E3-8672F5BE6810}"/>
                </a:ext>
              </a:extLst>
            </p:cNvPr>
            <p:cNvSpPr txBox="1"/>
            <p:nvPr/>
          </p:nvSpPr>
          <p:spPr>
            <a:xfrm>
              <a:off x="6377444" y="1806941"/>
              <a:ext cx="2194560" cy="12557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5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benchmark decision mismatches</a:t>
              </a:r>
            </a:p>
          </p:txBody>
        </p:sp>
        <p:sp>
          <p:nvSpPr>
            <p:cNvPr id="33" name="Rounded Rectangle 15">
              <a:extLst>
                <a:ext uri="{FF2B5EF4-FFF2-40B4-BE49-F238E27FC236}">
                  <a16:creationId xmlns:a16="http://schemas.microsoft.com/office/drawing/2014/main" id="{A4A8F3D2-9E7A-AC89-3BDF-2A50D9E97E6E}"/>
                </a:ext>
              </a:extLst>
            </p:cNvPr>
            <p:cNvSpPr/>
            <p:nvPr/>
          </p:nvSpPr>
          <p:spPr>
            <a:xfrm>
              <a:off x="9052560" y="1600200"/>
              <a:ext cx="251460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2E0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388D78A-AC49-9F71-BFC2-7C91CDE48032}"/>
                </a:ext>
              </a:extLst>
            </p:cNvPr>
            <p:cNvSpPr/>
            <p:nvPr/>
          </p:nvSpPr>
          <p:spPr>
            <a:xfrm>
              <a:off x="9052560" y="1600200"/>
              <a:ext cx="64008" cy="1417320"/>
            </a:xfrm>
            <a:prstGeom prst="rect">
              <a:avLst/>
            </a:prstGeom>
            <a:solidFill>
              <a:srgbClr val="227E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E624364-C72D-FEB1-F3B6-1960B1E31553}"/>
                </a:ext>
              </a:extLst>
            </p:cNvPr>
            <p:cNvSpPr txBox="1"/>
            <p:nvPr/>
          </p:nvSpPr>
          <p:spPr>
            <a:xfrm>
              <a:off x="9235440" y="1746504"/>
              <a:ext cx="2194560" cy="403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500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042949C-3BB7-AE63-AF39-9A8B334C106E}"/>
                </a:ext>
              </a:extLst>
            </p:cNvPr>
            <p:cNvSpPr txBox="1"/>
            <p:nvPr/>
          </p:nvSpPr>
          <p:spPr>
            <a:xfrm>
              <a:off x="9235440" y="2148840"/>
              <a:ext cx="2011680" cy="868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5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ML inferences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4F955E5-B311-E378-A4E7-66E419AE14F8}"/>
                </a:ext>
              </a:extLst>
            </p:cNvPr>
            <p:cNvSpPr txBox="1"/>
            <p:nvPr/>
          </p:nvSpPr>
          <p:spPr>
            <a:xfrm>
              <a:off x="685800" y="3474720"/>
              <a:ext cx="2377440" cy="403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Deployment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CC6A8EB-AB01-179B-E9B8-1EAB322D6333}"/>
                </a:ext>
              </a:extLst>
            </p:cNvPr>
            <p:cNvSpPr txBox="1"/>
            <p:nvPr/>
          </p:nvSpPr>
          <p:spPr>
            <a:xfrm>
              <a:off x="777240" y="3886199"/>
              <a:ext cx="5052060" cy="1488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350">
                  <a:solidFill>
                    <a:srgbClr val="FFFFFF"/>
                  </a:solidFill>
                  <a:latin typeface="Aptos"/>
                </a:defRPr>
              </a:pPr>
              <a:r>
                <a:rPr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• Frontend deployed on Vercel; backend deployed on Render.</a:t>
              </a:r>
            </a:p>
            <a:p>
              <a:pPr>
                <a:spcAft>
                  <a:spcPts val="600"/>
                </a:spcAft>
                <a:defRPr sz="1350">
                  <a:solidFill>
                    <a:srgbClr val="FFFFFF"/>
                  </a:solidFill>
                  <a:latin typeface="Aptos"/>
                </a:defRPr>
              </a:pPr>
              <a:r>
                <a:rPr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• CORS configured between the two services.</a:t>
              </a:r>
            </a:p>
            <a:p>
              <a:pPr>
                <a:spcAft>
                  <a:spcPts val="600"/>
                </a:spcAft>
                <a:defRPr sz="1350">
                  <a:solidFill>
                    <a:srgbClr val="FFFFFF"/>
                  </a:solidFill>
                  <a:latin typeface="Aptos"/>
                </a:defRPr>
              </a:pPr>
              <a:r>
                <a:rPr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• Gemini key remains backend-only; production UI never receives the secret.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EE3C6AA-DCB3-46ED-DFBB-9331498DD63F}"/>
                </a:ext>
              </a:extLst>
            </p:cNvPr>
            <p:cNvSpPr txBox="1"/>
            <p:nvPr/>
          </p:nvSpPr>
          <p:spPr>
            <a:xfrm>
              <a:off x="6172200" y="3474720"/>
              <a:ext cx="2194560" cy="4030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Next evolution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97A7FF9-2509-0E8E-EE14-B3E3666B049F}"/>
                </a:ext>
              </a:extLst>
            </p:cNvPr>
            <p:cNvSpPr txBox="1"/>
            <p:nvPr/>
          </p:nvSpPr>
          <p:spPr>
            <a:xfrm>
              <a:off x="6263640" y="3886200"/>
              <a:ext cx="4941869" cy="2309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350">
                  <a:solidFill>
                    <a:srgbClr val="FFFFFF"/>
                  </a:solidFill>
                  <a:latin typeface="Aptos"/>
                </a:defRPr>
              </a:pPr>
              <a:r>
                <a:rPr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• Train on real analyst outcomes instead of rule-derived targets.</a:t>
              </a:r>
            </a:p>
            <a:p>
              <a:pPr>
                <a:spcAft>
                  <a:spcPts val="600"/>
                </a:spcAft>
                <a:defRPr sz="1350">
                  <a:solidFill>
                    <a:srgbClr val="FFFFFF"/>
                  </a:solidFill>
                  <a:latin typeface="Aptos"/>
                </a:defRPr>
              </a:pPr>
              <a:r>
                <a:rPr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• Add persistent workflow state: assign, resolve, escalate and audit.</a:t>
              </a:r>
            </a:p>
            <a:p>
              <a:pPr>
                <a:spcAft>
                  <a:spcPts val="600"/>
                </a:spcAft>
                <a:defRPr sz="1350">
                  <a:solidFill>
                    <a:srgbClr val="FFFFFF"/>
                  </a:solidFill>
                  <a:latin typeface="Aptos"/>
                </a:defRPr>
              </a:pPr>
              <a:r>
                <a:rPr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• Add database-backed ingestion and scheduled reconciliation.</a:t>
              </a:r>
            </a:p>
            <a:p>
              <a:pPr>
                <a:spcAft>
                  <a:spcPts val="600"/>
                </a:spcAft>
                <a:defRPr sz="1350">
                  <a:solidFill>
                    <a:srgbClr val="FFFFFF"/>
                  </a:solidFill>
                  <a:latin typeface="Aptos"/>
                </a:defRPr>
              </a:pPr>
              <a:r>
                <a:rPr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• Expand observability, authentication and role-based access.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31BDBC6-59C3-BF5A-9A88-AC56AA43F2E3}"/>
                </a:ext>
              </a:extLst>
            </p:cNvPr>
            <p:cNvSpPr txBox="1"/>
            <p:nvPr/>
          </p:nvSpPr>
          <p:spPr>
            <a:xfrm>
              <a:off x="8229600" y="5989319"/>
              <a:ext cx="3017520" cy="255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sz="1050" b="0" dirty="0">
                <a:latin typeface="Apto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835A6C6-48C0-AAE8-D51D-8637A2D25C95}"/>
              </a:ext>
            </a:extLst>
          </p:cNvPr>
          <p:cNvSpPr txBox="1"/>
          <p:nvPr/>
        </p:nvSpPr>
        <p:spPr>
          <a:xfrm>
            <a:off x="594360" y="6510528"/>
            <a:ext cx="8686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latin typeface="Aptos"/>
              </a:rPr>
              <a:t>LEDGERLINE  •  Finance Operations Control Center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2E5CBA-D408-8902-1E9C-107FD71F33AA}"/>
              </a:ext>
            </a:extLst>
          </p:cNvPr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2238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549F-8880-EC61-7119-B3F871B9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D631B7E-F5D4-A66D-2AA0-2C18094B7822}"/>
              </a:ext>
            </a:extLst>
          </p:cNvPr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C738D5E-4C23-80DB-9B0D-5B17F86B4F8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3125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34816</TotalTime>
  <Words>970</Words>
  <Application>Microsoft Office PowerPoint</Application>
  <PresentationFormat>On-screen Show (4:3)</PresentationFormat>
  <Paragraphs>189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Kritika Aggarwal</cp:lastModifiedBy>
  <cp:revision>2297</cp:revision>
  <dcterms:created xsi:type="dcterms:W3CDTF">2010-04-09T07:36:15Z</dcterms:created>
  <dcterms:modified xsi:type="dcterms:W3CDTF">2026-09-07T01:35:49Z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